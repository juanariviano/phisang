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1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Calibri (MS) Bold" charset="1" panose="020F0702030404030204"/>
      <p:regular r:id="rId24"/>
    </p:embeddedFont>
    <p:embeddedFont>
      <p:font typeface="Arial Bold" charset="1" panose="020B0704020202020204"/>
      <p:regular r:id="rId25"/>
    </p:embeddedFont>
    <p:embeddedFont>
      <p:font typeface="Calibri (MS) Italics" charset="1" panose="020F05020202040A0204"/>
      <p:regular r:id="rId26"/>
    </p:embeddedFont>
    <p:embeddedFont>
      <p:font typeface="Calibri (MS)" charset="1" panose="020F0502020204030204"/>
      <p:regular r:id="rId27"/>
    </p:embeddedFont>
    <p:embeddedFont>
      <p:font typeface="Arimo Italics" charset="1" panose="020B0604020202090204"/>
      <p:regular r:id="rId31"/>
    </p:embeddedFont>
    <p:embeddedFont>
      <p:font typeface="Arimo" charset="1" panose="020B0604020202020204"/>
      <p:regular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notesMasters/notesMaster1.xml" Type="http://schemas.openxmlformats.org/officeDocument/2006/relationships/notesMaster"/><Relationship Id="rId22" Target="theme/theme2.xml" Type="http://schemas.openxmlformats.org/officeDocument/2006/relationships/theme"/><Relationship Id="rId23" Target="notesSlides/notesSlide1.xml" Type="http://schemas.openxmlformats.org/officeDocument/2006/relationships/notesSlide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notesSlides/notesSlide2.xml" Type="http://schemas.openxmlformats.org/officeDocument/2006/relationships/notesSlide"/><Relationship Id="rId29" Target="notesSlides/notesSlide3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4.xml" Type="http://schemas.openxmlformats.org/officeDocument/2006/relationships/notesSlide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notesSlides/notesSlide5.xml" Type="http://schemas.openxmlformats.org/officeDocument/2006/relationships/notesSlide"/><Relationship Id="rId34" Target="notesSlides/notesSlide6.xml" Type="http://schemas.openxmlformats.org/officeDocument/2006/relationships/notesSlide"/><Relationship Id="rId35" Target="notesSlides/notesSlide7.xml" Type="http://schemas.openxmlformats.org/officeDocument/2006/relationships/notesSlide"/><Relationship Id="rId36" Target="notesSlides/notesSlide8.xml" Type="http://schemas.openxmlformats.org/officeDocument/2006/relationships/notesSlide"/><Relationship Id="rId37" Target="notesSlides/notesSlide9.xml" Type="http://schemas.openxmlformats.org/officeDocument/2006/relationships/notesSlide"/><Relationship Id="rId38" Target="notesSlides/notesSlide10.xml" Type="http://schemas.openxmlformats.org/officeDocument/2006/relationships/notesSlide"/><Relationship Id="rId39" Target="notesSlides/notesSlide11.xml" Type="http://schemas.openxmlformats.org/officeDocument/2006/relationships/notesSlide"/><Relationship Id="rId4" Target="theme/theme1.xml" Type="http://schemas.openxmlformats.org/officeDocument/2006/relationships/theme"/><Relationship Id="rId40" Target="notesSlides/notesSlide12.xml" Type="http://schemas.openxmlformats.org/officeDocument/2006/relationships/notesSlide"/><Relationship Id="rId41" Target="notesSlides/notesSlide13.xml" Type="http://schemas.openxmlformats.org/officeDocument/2006/relationships/notesSlide"/><Relationship Id="rId42" Target="notesSlides/notesSlide14.xml" Type="http://schemas.openxmlformats.org/officeDocument/2006/relationships/notesSlid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Introduce the team and the one-line idea: Phisang (from 'pisang', banana) checks a link before your browser ever loads it.</a:t>
            </a:r>
          </a:p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Stats: SOCRadar 2025 Indonesia report (HTTPS share of phishing sites; finance as top phishing sector) and Sumsub Global Fraud Index 2025. The human is the target, so the defence belongs at the click.</a:t>
            </a:r>
          </a:p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Three surfaces, one backend. The risk bands are the same everywhere so users learn one vocabulary.</a:t>
            </a:r>
          </a:p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Table: the capability gap. Cards: the four design decisions that are the real USP, as in Chapter 2 of the report.</a:t>
            </a:r>
          </a:p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Lead with the numbers: this is deployed. Also: 2 false-positive reports already filed through the UI; ~3,400 lines Python, 970 extension JS, 1,100 React. Model evaluated on 300 unseen pages plus 33 hand-labelled files. Then demo the four links.</a:t>
            </a:r>
          </a:p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Lead with the numbers: this is deployed. Also: 2 false-positive reports already filed through the UI; ~3,400 lines Python, 970 extension JS, 1,100 React. Model evaluated on 300 unseen pages plus 33 hand-labelled files. Then demo the four links.</a:t>
            </a:r>
          </a:p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Lead with the numbers: this is deployed. Also: 2 false-positive reports already filed through the UI; ~3,400 lines Python, 970 extension JS, 1,100 React. Model evaluated on 300 unseen pages plus 33 hand-labelled files. Then demo the four links.</a:t>
            </a:r>
          </a:p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Use screenshots from the Drive folder. Mention: a cache hit releases the tab with no request; a check that could not finish still opens the page with a banner; reports are review-only.</a:t>
            </a:r>
          </a:p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Design rule: page fetch costs orders of magnitude more than every other check, so answer as much as possible before it. Only the URL leaves the browser; fetched HTML is scored in process and discarded. Inference reads cleaning rules from the model's metadata.json, so it cannot drift from training.</a:t>
            </a:r>
          </a:p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Example attack: submit http://169.254.169.254/latest/meta-data/. Both layers reject it. Ports limited to 80, 443, 8080, 8443. Hardening that would force Chromium into --no-sandbox was rejected on purpose.</a:t>
            </a:r>
          </a:p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No per-request state outside SQL Server, so replicas need no coordination. Each new subdomain still earns its own check.</a:t>
            </a:r>
          </a:p>
          <a:p>
            <a:r>
              <a:rPr lang="en-US"/>
              <a:t>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The managed-browser channel is the go-to-market in the report's commercial release plan.</a:t>
            </a:r>
          </a:p>
          <a:p>
            <a:r>
              <a:rPr lang="en-US"/>
              <a:t>10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Also not ready: single API process, unpacked extension, no formal privacy notice. None are architectural dead ends.</a:t>
            </a:r>
          </a:p>
          <a:p>
            <a:r>
              <a:rPr lang="en-US"/>
              <a:t>11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See Q&amp;A prep in the pitch script.</a:t>
            </a:r>
          </a:p>
          <a:p>
            <a:r>
              <a:rPr lang="en-US"/>
              <a:t>12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2.jpeg" Type="http://schemas.openxmlformats.org/officeDocument/2006/relationships/image"/><Relationship Id="rId4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2.jpe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2.jpe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9.png" Type="http://schemas.openxmlformats.org/officeDocument/2006/relationships/image"/><Relationship Id="rId7" Target="../media/image1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png" Type="http://schemas.openxmlformats.org/officeDocument/2006/relationships/image"/><Relationship Id="rId4" Target="../media/image13.png" Type="http://schemas.openxmlformats.org/officeDocument/2006/relationships/image"/><Relationship Id="rId5" Target="../media/image14.png" Type="http://schemas.openxmlformats.org/officeDocument/2006/relationships/image"/><Relationship Id="rId6" Target="https://www.virustotal.com/gui/url/c9134698b0a6b6ec48b3fea163c0fff5b5761bb6fb39b7117eceb07434b13e15/gti-summary" TargetMode="External" Type="http://schemas.openxmlformats.org/officeDocument/2006/relationships/hyperlink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2.jpeg" Type="http://schemas.openxmlformats.org/officeDocument/2006/relationships/image"/><Relationship Id="rId4" Target="../media/image15.png" Type="http://schemas.openxmlformats.org/officeDocument/2006/relationships/image"/><Relationship Id="rId5" Target="../media/image16.png" Type="http://schemas.openxmlformats.org/officeDocument/2006/relationships/image"/><Relationship Id="rId6" Target="https://tinyurl.com/phisang-hacknusa" TargetMode="External" Type="http://schemas.openxmlformats.org/officeDocument/2006/relationships/hyperlink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2.jpeg" Type="http://schemas.openxmlformats.org/officeDocument/2006/relationships/image"/><Relationship Id="rId4" Target="../media/image17.png" Type="http://schemas.openxmlformats.org/officeDocument/2006/relationships/image"/><Relationship Id="rId5" Target="../media/image18.png" Type="http://schemas.openxmlformats.org/officeDocument/2006/relationships/image"/><Relationship Id="rId6" Target="../media/image19.png" Type="http://schemas.openxmlformats.org/officeDocument/2006/relationships/image"/><Relationship Id="rId7" Target="../media/image6.png" Type="http://schemas.openxmlformats.org/officeDocument/2006/relationships/image"/><Relationship Id="rId8" Target="../media/image20.png" Type="http://schemas.openxmlformats.org/officeDocument/2006/relationships/image"/><Relationship Id="rId9" Target="../media/image2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2.jpeg" Type="http://schemas.openxmlformats.org/officeDocument/2006/relationships/image"/><Relationship Id="rId4" Target="../media/image22.png" Type="http://schemas.openxmlformats.org/officeDocument/2006/relationships/image"/><Relationship Id="rId5" Target="../media/image23.png" Type="http://schemas.openxmlformats.org/officeDocument/2006/relationships/image"/><Relationship Id="rId6" Target="../media/image24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Relationship Id="rId3" Target="../media/image1.png" Type="http://schemas.openxmlformats.org/officeDocument/2006/relationships/image"/><Relationship Id="rId4" Target="../media/image2.jpeg" Type="http://schemas.openxmlformats.org/officeDocument/2006/relationships/image"/><Relationship Id="rId5" Target="https://github.com/juanariviano/Phisang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B26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508743" y="1633223"/>
            <a:ext cx="6609083" cy="6609083"/>
            <a:chOff x="0" y="0"/>
            <a:chExt cx="8812111" cy="88121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812149" cy="8812149"/>
            </a:xfrm>
            <a:custGeom>
              <a:avLst/>
              <a:gdLst/>
              <a:ahLst/>
              <a:cxnLst/>
              <a:rect r="r" b="b" t="t" l="l"/>
              <a:pathLst>
                <a:path h="8812149" w="8812149">
                  <a:moveTo>
                    <a:pt x="0" y="4406011"/>
                  </a:moveTo>
                  <a:cubicBezTo>
                    <a:pt x="0" y="1972691"/>
                    <a:pt x="1972691" y="0"/>
                    <a:pt x="4406011" y="0"/>
                  </a:cubicBezTo>
                  <a:cubicBezTo>
                    <a:pt x="6839331" y="0"/>
                    <a:pt x="8812149" y="1972691"/>
                    <a:pt x="8812149" y="4406011"/>
                  </a:cubicBezTo>
                  <a:cubicBezTo>
                    <a:pt x="8812149" y="6839331"/>
                    <a:pt x="6839458" y="8812149"/>
                    <a:pt x="4406011" y="8812149"/>
                  </a:cubicBezTo>
                  <a:cubicBezTo>
                    <a:pt x="1972564" y="8812149"/>
                    <a:pt x="0" y="6839458"/>
                    <a:pt x="0" y="4406011"/>
                  </a:cubicBezTo>
                  <a:close/>
                </a:path>
              </a:pathLst>
            </a:custGeom>
            <a:solidFill>
              <a:srgbClr val="F7C948">
                <a:alpha val="1176"/>
              </a:srgbClr>
            </a:solidFill>
            <a:ln w="25400" cap="sq">
              <a:solidFill>
                <a:srgbClr val="F7C948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2423143" y="2547623"/>
            <a:ext cx="4780283" cy="4780283"/>
            <a:chOff x="0" y="0"/>
            <a:chExt cx="6373711" cy="637371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373749" cy="6373749"/>
            </a:xfrm>
            <a:custGeom>
              <a:avLst/>
              <a:gdLst/>
              <a:ahLst/>
              <a:cxnLst/>
              <a:rect r="r" b="b" t="t" l="l"/>
              <a:pathLst>
                <a:path h="6373749" w="6373749">
                  <a:moveTo>
                    <a:pt x="0" y="3186811"/>
                  </a:moveTo>
                  <a:cubicBezTo>
                    <a:pt x="0" y="1426845"/>
                    <a:pt x="1426845" y="0"/>
                    <a:pt x="3186811" y="0"/>
                  </a:cubicBezTo>
                  <a:cubicBezTo>
                    <a:pt x="4946777" y="0"/>
                    <a:pt x="6373749" y="1426845"/>
                    <a:pt x="6373749" y="3186811"/>
                  </a:cubicBezTo>
                  <a:cubicBezTo>
                    <a:pt x="6373749" y="4946777"/>
                    <a:pt x="4946904" y="6373749"/>
                    <a:pt x="3186811" y="6373749"/>
                  </a:cubicBezTo>
                  <a:cubicBezTo>
                    <a:pt x="1426718" y="6373749"/>
                    <a:pt x="0" y="4946904"/>
                    <a:pt x="0" y="3186811"/>
                  </a:cubicBezTo>
                  <a:close/>
                </a:path>
              </a:pathLst>
            </a:custGeom>
            <a:solidFill>
              <a:srgbClr val="F7C948">
                <a:alpha val="5882"/>
              </a:srgbClr>
            </a:solidFill>
            <a:ln w="25400" cap="sq">
              <a:solidFill>
                <a:srgbClr val="F7C948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3441680" y="3566160"/>
            <a:ext cx="2743200" cy="2743200"/>
            <a:chOff x="0" y="0"/>
            <a:chExt cx="3657600" cy="36576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657600" cy="3657600"/>
            </a:xfrm>
            <a:custGeom>
              <a:avLst/>
              <a:gdLst/>
              <a:ahLst/>
              <a:cxnLst/>
              <a:rect r="r" b="b" t="t" l="l"/>
              <a:pathLst>
                <a:path h="3657600" w="3657600">
                  <a:moveTo>
                    <a:pt x="1270000" y="0"/>
                  </a:moveTo>
                  <a:lnTo>
                    <a:pt x="2387600" y="0"/>
                  </a:lnTo>
                  <a:cubicBezTo>
                    <a:pt x="3089002" y="0"/>
                    <a:pt x="3657600" y="568598"/>
                    <a:pt x="3657600" y="1270000"/>
                  </a:cubicBezTo>
                  <a:lnTo>
                    <a:pt x="3657600" y="2387600"/>
                  </a:lnTo>
                  <a:cubicBezTo>
                    <a:pt x="3657600" y="3089002"/>
                    <a:pt x="3089002" y="3657600"/>
                    <a:pt x="2387600" y="3657600"/>
                  </a:cubicBezTo>
                  <a:lnTo>
                    <a:pt x="1270000" y="3657600"/>
                  </a:lnTo>
                  <a:cubicBezTo>
                    <a:pt x="568598" y="3657600"/>
                    <a:pt x="0" y="3089002"/>
                    <a:pt x="0" y="2387600"/>
                  </a:cubicBezTo>
                  <a:lnTo>
                    <a:pt x="0" y="1270000"/>
                  </a:lnTo>
                  <a:cubicBezTo>
                    <a:pt x="0" y="568598"/>
                    <a:pt x="568598" y="0"/>
                    <a:pt x="1270000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3763" r="0" b="-3763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97280" y="1828800"/>
            <a:ext cx="10607040" cy="548640"/>
            <a:chOff x="0" y="0"/>
            <a:chExt cx="14142720" cy="7315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142720" cy="731520"/>
            </a:xfrm>
            <a:custGeom>
              <a:avLst/>
              <a:gdLst/>
              <a:ahLst/>
              <a:cxnLst/>
              <a:rect r="r" b="b" t="t" l="l"/>
              <a:pathLst>
                <a:path h="731520" w="14142720">
                  <a:moveTo>
                    <a:pt x="0" y="0"/>
                  </a:moveTo>
                  <a:lnTo>
                    <a:pt x="14142720" y="0"/>
                  </a:lnTo>
                  <a:lnTo>
                    <a:pt x="141427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26710" r="0" b="-32671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41427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b="true" sz="2400" spc="400">
                  <a:solidFill>
                    <a:srgbClr val="F7C94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HACKNUSA 2026  ·  HUMAN-CENTRIC SECURITY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97280" y="2560320"/>
            <a:ext cx="10607040" cy="1828800"/>
            <a:chOff x="0" y="0"/>
            <a:chExt cx="14142720" cy="2438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142720" cy="2438400"/>
            </a:xfrm>
            <a:custGeom>
              <a:avLst/>
              <a:gdLst/>
              <a:ahLst/>
              <a:cxnLst/>
              <a:rect r="r" b="b" t="t" l="l"/>
              <a:pathLst>
                <a:path h="2438400" w="14142720">
                  <a:moveTo>
                    <a:pt x="0" y="0"/>
                  </a:moveTo>
                  <a:lnTo>
                    <a:pt x="14142720" y="0"/>
                  </a:lnTo>
                  <a:lnTo>
                    <a:pt x="1414272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3013" r="0" b="-63013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14142720" cy="2486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400"/>
                </a:lnSpc>
              </a:pPr>
              <a:r>
                <a:rPr lang="en-US" sz="120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Phisang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97280" y="4480560"/>
            <a:ext cx="10607040" cy="914400"/>
            <a:chOff x="0" y="0"/>
            <a:chExt cx="14142720" cy="12192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41427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4142720">
                  <a:moveTo>
                    <a:pt x="0" y="0"/>
                  </a:moveTo>
                  <a:lnTo>
                    <a:pt x="14142720" y="0"/>
                  </a:lnTo>
                  <a:lnTo>
                    <a:pt x="141427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76026" r="0" b="-176026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76200"/>
              <a:ext cx="14142720" cy="1295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i="true">
                  <a:solidFill>
                    <a:srgbClr val="F7C94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Reads the peel before you bite.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97280" y="5577840"/>
            <a:ext cx="9875520" cy="1280160"/>
            <a:chOff x="0" y="0"/>
            <a:chExt cx="13167360" cy="170688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3167361" cy="1706880"/>
            </a:xfrm>
            <a:custGeom>
              <a:avLst/>
              <a:gdLst/>
              <a:ahLst/>
              <a:cxnLst/>
              <a:rect r="r" b="b" t="t" l="l"/>
              <a:pathLst>
                <a:path h="1706880" w="13167361">
                  <a:moveTo>
                    <a:pt x="0" y="0"/>
                  </a:moveTo>
                  <a:lnTo>
                    <a:pt x="13167361" y="0"/>
                  </a:lnTo>
                  <a:lnTo>
                    <a:pt x="13167361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0313" r="0" b="-100313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66675"/>
              <a:ext cx="13167360" cy="17735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D5DDD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 Chrome extension, web scanner and API that catches malware and phishing links before the page opens.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097280" y="8138160"/>
            <a:ext cx="10607040" cy="643533"/>
            <a:chOff x="0" y="0"/>
            <a:chExt cx="14142720" cy="85804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4142720" cy="858044"/>
            </a:xfrm>
            <a:custGeom>
              <a:avLst/>
              <a:gdLst/>
              <a:ahLst/>
              <a:cxnLst/>
              <a:rect r="r" b="b" t="t" l="l"/>
              <a:pathLst>
                <a:path h="858044" w="14142720">
                  <a:moveTo>
                    <a:pt x="0" y="0"/>
                  </a:moveTo>
                  <a:lnTo>
                    <a:pt x="14142720" y="0"/>
                  </a:lnTo>
                  <a:lnTo>
                    <a:pt x="14142720" y="858044"/>
                  </a:lnTo>
                  <a:lnTo>
                    <a:pt x="0" y="85804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1430" r="0" b="-270894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14142720" cy="9151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>
                  <a:solidFill>
                    <a:srgbClr val="A9B5A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Team </a:t>
              </a:r>
              <a:r>
                <a:rPr lang="en-US" sz="3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23 - Phisang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85216"/>
            <a:ext cx="16459200" cy="1097280"/>
            <a:chOff x="0" y="0"/>
            <a:chExt cx="2194560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194560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20"/>
                </a:lnSpc>
              </a:pPr>
              <a:r>
                <a:rPr lang="en-US" sz="5600" b="true">
                  <a:solidFill>
                    <a:srgbClr val="1F2A1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The padlock no longer means safe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1645920"/>
            <a:ext cx="16459200" cy="640080"/>
            <a:chOff x="0" y="0"/>
            <a:chExt cx="21945600" cy="8534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853440"/>
            </a:xfrm>
            <a:custGeom>
              <a:avLst/>
              <a:gdLst/>
              <a:ahLst/>
              <a:cxnLst/>
              <a:rect r="r" b="b" t="t" l="l"/>
              <a:pathLst>
                <a:path h="8534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1043" r="0" b="-451043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21945600" cy="9201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5B6B5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Phishing targets the moment a person clicks, and the old trust signals are easy to fake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01703" y="2639063"/>
            <a:ext cx="7889243" cy="1762763"/>
            <a:chOff x="0" y="0"/>
            <a:chExt cx="10518991" cy="235035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519029" cy="2350389"/>
            </a:xfrm>
            <a:custGeom>
              <a:avLst/>
              <a:gdLst/>
              <a:ahLst/>
              <a:cxnLst/>
              <a:rect r="r" b="b" t="t" l="l"/>
              <a:pathLst>
                <a:path h="2350389" w="10519029">
                  <a:moveTo>
                    <a:pt x="0" y="296926"/>
                  </a:moveTo>
                  <a:cubicBezTo>
                    <a:pt x="0" y="132969"/>
                    <a:pt x="132969" y="0"/>
                    <a:pt x="296926" y="0"/>
                  </a:cubicBezTo>
                  <a:lnTo>
                    <a:pt x="10222103" y="0"/>
                  </a:lnTo>
                  <a:cubicBezTo>
                    <a:pt x="10386060" y="0"/>
                    <a:pt x="10519029" y="132969"/>
                    <a:pt x="10519029" y="296926"/>
                  </a:cubicBezTo>
                  <a:lnTo>
                    <a:pt x="10519029" y="2053463"/>
                  </a:lnTo>
                  <a:cubicBezTo>
                    <a:pt x="10519029" y="2217420"/>
                    <a:pt x="10386060" y="2350389"/>
                    <a:pt x="10222103" y="2350389"/>
                  </a:cubicBezTo>
                  <a:lnTo>
                    <a:pt x="296926" y="2350389"/>
                  </a:lnTo>
                  <a:cubicBezTo>
                    <a:pt x="132969" y="2350389"/>
                    <a:pt x="0" y="2217420"/>
                    <a:pt x="0" y="2053463"/>
                  </a:cubicBezTo>
                  <a:close/>
                </a:path>
              </a:pathLst>
            </a:custGeom>
            <a:solidFill>
              <a:srgbClr val="F3F5EF"/>
            </a:solidFill>
            <a:ln w="25400" cap="sq">
              <a:solidFill>
                <a:srgbClr val="F3F5EF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280160" y="2651760"/>
            <a:ext cx="2834640" cy="1737360"/>
            <a:chOff x="0" y="0"/>
            <a:chExt cx="3779520" cy="23164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779520" cy="2316480"/>
            </a:xfrm>
            <a:custGeom>
              <a:avLst/>
              <a:gdLst/>
              <a:ahLst/>
              <a:cxnLst/>
              <a:rect r="r" b="b" t="t" l="l"/>
              <a:pathLst>
                <a:path h="2316480" w="3779520">
                  <a:moveTo>
                    <a:pt x="0" y="0"/>
                  </a:moveTo>
                  <a:lnTo>
                    <a:pt x="3779520" y="0"/>
                  </a:lnTo>
                  <a:lnTo>
                    <a:pt x="3779520" y="2316480"/>
                  </a:lnTo>
                  <a:lnTo>
                    <a:pt x="0" y="2316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8637" t="0" r="-28637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3779520" cy="23450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46723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59.6%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4206240" y="2651760"/>
            <a:ext cx="4297680" cy="1737360"/>
            <a:chOff x="0" y="0"/>
            <a:chExt cx="5730240" cy="231648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730240" cy="2316480"/>
            </a:xfrm>
            <a:custGeom>
              <a:avLst/>
              <a:gdLst/>
              <a:ahLst/>
              <a:cxnLst/>
              <a:rect r="r" b="b" t="t" l="l"/>
              <a:pathLst>
                <a:path h="2316480" w="5730240">
                  <a:moveTo>
                    <a:pt x="0" y="0"/>
                  </a:moveTo>
                  <a:lnTo>
                    <a:pt x="5730240" y="0"/>
                  </a:lnTo>
                  <a:lnTo>
                    <a:pt x="5730240" y="2316480"/>
                  </a:lnTo>
                  <a:lnTo>
                    <a:pt x="0" y="2316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867" t="0" r="-1867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5730240" cy="23736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1F2A1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of phishing sites targeting Indonesia use HTTPS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01703" y="4742183"/>
            <a:ext cx="7889243" cy="1762763"/>
            <a:chOff x="0" y="0"/>
            <a:chExt cx="10518991" cy="235035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519029" cy="2350389"/>
            </a:xfrm>
            <a:custGeom>
              <a:avLst/>
              <a:gdLst/>
              <a:ahLst/>
              <a:cxnLst/>
              <a:rect r="r" b="b" t="t" l="l"/>
              <a:pathLst>
                <a:path h="2350389" w="10519029">
                  <a:moveTo>
                    <a:pt x="0" y="296926"/>
                  </a:moveTo>
                  <a:cubicBezTo>
                    <a:pt x="0" y="132969"/>
                    <a:pt x="132969" y="0"/>
                    <a:pt x="296926" y="0"/>
                  </a:cubicBezTo>
                  <a:lnTo>
                    <a:pt x="10222103" y="0"/>
                  </a:lnTo>
                  <a:cubicBezTo>
                    <a:pt x="10386060" y="0"/>
                    <a:pt x="10519029" y="132969"/>
                    <a:pt x="10519029" y="296926"/>
                  </a:cubicBezTo>
                  <a:lnTo>
                    <a:pt x="10519029" y="2053463"/>
                  </a:lnTo>
                  <a:cubicBezTo>
                    <a:pt x="10519029" y="2217420"/>
                    <a:pt x="10386060" y="2350389"/>
                    <a:pt x="10222103" y="2350389"/>
                  </a:cubicBezTo>
                  <a:lnTo>
                    <a:pt x="296926" y="2350389"/>
                  </a:lnTo>
                  <a:cubicBezTo>
                    <a:pt x="132969" y="2350389"/>
                    <a:pt x="0" y="2217420"/>
                    <a:pt x="0" y="2053463"/>
                  </a:cubicBezTo>
                  <a:close/>
                </a:path>
              </a:pathLst>
            </a:custGeom>
            <a:solidFill>
              <a:srgbClr val="F3F5EF"/>
            </a:solidFill>
            <a:ln w="25400" cap="sq">
              <a:solidFill>
                <a:srgbClr val="F3F5EF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1280160" y="4754880"/>
            <a:ext cx="2834640" cy="1737360"/>
            <a:chOff x="0" y="0"/>
            <a:chExt cx="3779520" cy="23164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779520" cy="2316480"/>
            </a:xfrm>
            <a:custGeom>
              <a:avLst/>
              <a:gdLst/>
              <a:ahLst/>
              <a:cxnLst/>
              <a:rect r="r" b="b" t="t" l="l"/>
              <a:pathLst>
                <a:path h="2316480" w="3779520">
                  <a:moveTo>
                    <a:pt x="0" y="0"/>
                  </a:moveTo>
                  <a:lnTo>
                    <a:pt x="3779520" y="0"/>
                  </a:lnTo>
                  <a:lnTo>
                    <a:pt x="3779520" y="2316480"/>
                  </a:lnTo>
                  <a:lnTo>
                    <a:pt x="0" y="2316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8637" t="0" r="-28637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28575"/>
              <a:ext cx="3779520" cy="23450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46723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24.4%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4206240" y="4754880"/>
            <a:ext cx="4297680" cy="1737360"/>
            <a:chOff x="0" y="0"/>
            <a:chExt cx="5730240" cy="231648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730240" cy="2316480"/>
            </a:xfrm>
            <a:custGeom>
              <a:avLst/>
              <a:gdLst/>
              <a:ahLst/>
              <a:cxnLst/>
              <a:rect r="r" b="b" t="t" l="l"/>
              <a:pathLst>
                <a:path h="2316480" w="5730240">
                  <a:moveTo>
                    <a:pt x="0" y="0"/>
                  </a:moveTo>
                  <a:lnTo>
                    <a:pt x="5730240" y="0"/>
                  </a:lnTo>
                  <a:lnTo>
                    <a:pt x="5730240" y="2316480"/>
                  </a:lnTo>
                  <a:lnTo>
                    <a:pt x="0" y="2316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867" t="0" r="-1867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57150"/>
              <a:ext cx="5730240" cy="23736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1F2A1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of those phishing attacks hit finance, the top sector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01703" y="6845303"/>
            <a:ext cx="7889243" cy="1762763"/>
            <a:chOff x="0" y="0"/>
            <a:chExt cx="10518991" cy="235035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519029" cy="2350389"/>
            </a:xfrm>
            <a:custGeom>
              <a:avLst/>
              <a:gdLst/>
              <a:ahLst/>
              <a:cxnLst/>
              <a:rect r="r" b="b" t="t" l="l"/>
              <a:pathLst>
                <a:path h="2350389" w="10519029">
                  <a:moveTo>
                    <a:pt x="0" y="296926"/>
                  </a:moveTo>
                  <a:cubicBezTo>
                    <a:pt x="0" y="132969"/>
                    <a:pt x="132969" y="0"/>
                    <a:pt x="296926" y="0"/>
                  </a:cubicBezTo>
                  <a:lnTo>
                    <a:pt x="10222103" y="0"/>
                  </a:lnTo>
                  <a:cubicBezTo>
                    <a:pt x="10386060" y="0"/>
                    <a:pt x="10519029" y="132969"/>
                    <a:pt x="10519029" y="296926"/>
                  </a:cubicBezTo>
                  <a:lnTo>
                    <a:pt x="10519029" y="2053463"/>
                  </a:lnTo>
                  <a:cubicBezTo>
                    <a:pt x="10519029" y="2217420"/>
                    <a:pt x="10386060" y="2350389"/>
                    <a:pt x="10222103" y="2350389"/>
                  </a:cubicBezTo>
                  <a:lnTo>
                    <a:pt x="296926" y="2350389"/>
                  </a:lnTo>
                  <a:cubicBezTo>
                    <a:pt x="132969" y="2350389"/>
                    <a:pt x="0" y="2217420"/>
                    <a:pt x="0" y="2053463"/>
                  </a:cubicBezTo>
                  <a:close/>
                </a:path>
              </a:pathLst>
            </a:custGeom>
            <a:solidFill>
              <a:srgbClr val="F3F5EF"/>
            </a:solidFill>
            <a:ln w="25400" cap="sq">
              <a:solidFill>
                <a:srgbClr val="F3F5EF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1280160" y="6858000"/>
            <a:ext cx="2834640" cy="1737360"/>
            <a:chOff x="0" y="0"/>
            <a:chExt cx="3779520" cy="231648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779520" cy="2316480"/>
            </a:xfrm>
            <a:custGeom>
              <a:avLst/>
              <a:gdLst/>
              <a:ahLst/>
              <a:cxnLst/>
              <a:rect r="r" b="b" t="t" l="l"/>
              <a:pathLst>
                <a:path h="2316480" w="3779520">
                  <a:moveTo>
                    <a:pt x="0" y="0"/>
                  </a:moveTo>
                  <a:lnTo>
                    <a:pt x="3779520" y="0"/>
                  </a:lnTo>
                  <a:lnTo>
                    <a:pt x="3779520" y="2316480"/>
                  </a:lnTo>
                  <a:lnTo>
                    <a:pt x="0" y="2316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8637" t="0" r="-28637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28575"/>
              <a:ext cx="3779520" cy="23450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C0392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#2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4206240" y="6858000"/>
            <a:ext cx="4297680" cy="1737360"/>
            <a:chOff x="0" y="0"/>
            <a:chExt cx="5730240" cy="231648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730240" cy="2316480"/>
            </a:xfrm>
            <a:custGeom>
              <a:avLst/>
              <a:gdLst/>
              <a:ahLst/>
              <a:cxnLst/>
              <a:rect r="r" b="b" t="t" l="l"/>
              <a:pathLst>
                <a:path h="2316480" w="5730240">
                  <a:moveTo>
                    <a:pt x="0" y="0"/>
                  </a:moveTo>
                  <a:lnTo>
                    <a:pt x="5730240" y="0"/>
                  </a:lnTo>
                  <a:lnTo>
                    <a:pt x="5730240" y="2316480"/>
                  </a:lnTo>
                  <a:lnTo>
                    <a:pt x="0" y="2316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867" t="0" r="-1867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57150"/>
              <a:ext cx="5730240" cy="23736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1F2A1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Indonesia's rank among the most fraud-vulnerable countries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914400" y="9052560"/>
            <a:ext cx="10058400" cy="457200"/>
            <a:chOff x="0" y="0"/>
            <a:chExt cx="13411200" cy="6096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3411200" cy="609600"/>
            </a:xfrm>
            <a:custGeom>
              <a:avLst/>
              <a:gdLst/>
              <a:ahLst/>
              <a:cxnLst/>
              <a:rect r="r" b="b" t="t" l="l"/>
              <a:pathLst>
                <a:path h="609600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8670" r="0" b="-37867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134112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A958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Sources: SOCRadar Indonesia Threat Landscape Report 2025; Sumsub Global Fraud Index 2025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509760" y="2651760"/>
            <a:ext cx="7863840" cy="548640"/>
            <a:chOff x="0" y="0"/>
            <a:chExt cx="10485120" cy="73152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485120" cy="731520"/>
            </a:xfrm>
            <a:custGeom>
              <a:avLst/>
              <a:gdLst/>
              <a:ahLst/>
              <a:cxnLst/>
              <a:rect r="r" b="b" t="t" l="l"/>
              <a:pathLst>
                <a:path h="73152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9285" r="0" b="-229285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19050"/>
              <a:ext cx="1048512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1F2A1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Core problem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509760" y="3291840"/>
            <a:ext cx="7863840" cy="2011680"/>
            <a:chOff x="0" y="0"/>
            <a:chExt cx="10485120" cy="268224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485120" cy="2682240"/>
            </a:xfrm>
            <a:custGeom>
              <a:avLst/>
              <a:gdLst/>
              <a:ahLst/>
              <a:cxnLst/>
              <a:rect r="r" b="b" t="t" l="l"/>
              <a:pathLst>
                <a:path h="268224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68" r="0" b="-26168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57150"/>
              <a:ext cx="10485120" cy="27393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1F2A1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 phishing kit can register a domain, serve a credential form for a few hours, and vanish before any blocklist lists it. Antivirus checks downloads, but a credential form steals what you type. And a feed miss is not proof of safety.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9497063" y="5565143"/>
            <a:ext cx="7889243" cy="3408683"/>
            <a:chOff x="0" y="0"/>
            <a:chExt cx="10518991" cy="454491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0519029" cy="4544949"/>
            </a:xfrm>
            <a:custGeom>
              <a:avLst/>
              <a:gdLst/>
              <a:ahLst/>
              <a:cxnLst/>
              <a:rect r="r" b="b" t="t" l="l"/>
              <a:pathLst>
                <a:path h="4544949" w="10519029">
                  <a:moveTo>
                    <a:pt x="0" y="294767"/>
                  </a:moveTo>
                  <a:cubicBezTo>
                    <a:pt x="0" y="131953"/>
                    <a:pt x="131953" y="0"/>
                    <a:pt x="294767" y="0"/>
                  </a:cubicBezTo>
                  <a:lnTo>
                    <a:pt x="10224262" y="0"/>
                  </a:lnTo>
                  <a:cubicBezTo>
                    <a:pt x="10387076" y="0"/>
                    <a:pt x="10519029" y="131953"/>
                    <a:pt x="10519029" y="294767"/>
                  </a:cubicBezTo>
                  <a:lnTo>
                    <a:pt x="10519029" y="4250182"/>
                  </a:lnTo>
                  <a:cubicBezTo>
                    <a:pt x="10519029" y="4412996"/>
                    <a:pt x="10387076" y="4544949"/>
                    <a:pt x="10224262" y="4544949"/>
                  </a:cubicBezTo>
                  <a:lnTo>
                    <a:pt x="294767" y="4544949"/>
                  </a:lnTo>
                  <a:cubicBezTo>
                    <a:pt x="131953" y="4544949"/>
                    <a:pt x="0" y="4412869"/>
                    <a:pt x="0" y="4250182"/>
                  </a:cubicBezTo>
                  <a:close/>
                </a:path>
              </a:pathLst>
            </a:custGeom>
            <a:solidFill>
              <a:srgbClr val="E3F0DC"/>
            </a:solidFill>
            <a:ln w="25400" cap="sq">
              <a:solidFill>
                <a:srgbClr val="E3F0DC"/>
              </a:solidFill>
              <a:prstDash val="solid"/>
              <a:miter/>
            </a:ln>
          </p:spPr>
        </p:sp>
      </p:grpSp>
      <p:grpSp>
        <p:nvGrpSpPr>
          <p:cNvPr name="Group 43" id="43"/>
          <p:cNvGrpSpPr/>
          <p:nvPr/>
        </p:nvGrpSpPr>
        <p:grpSpPr>
          <a:xfrm rot="0">
            <a:off x="9862823" y="5839463"/>
            <a:ext cx="939803" cy="939803"/>
            <a:chOff x="0" y="0"/>
            <a:chExt cx="1253071" cy="1253071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253109" cy="1253109"/>
            </a:xfrm>
            <a:custGeom>
              <a:avLst/>
              <a:gdLst/>
              <a:ahLst/>
              <a:cxnLst/>
              <a:rect r="r" b="b" t="t" l="l"/>
              <a:pathLst>
                <a:path h="1253109" w="1253109">
                  <a:moveTo>
                    <a:pt x="0" y="626491"/>
                  </a:moveTo>
                  <a:cubicBezTo>
                    <a:pt x="0" y="280543"/>
                    <a:pt x="280543" y="0"/>
                    <a:pt x="626491" y="0"/>
                  </a:cubicBezTo>
                  <a:cubicBezTo>
                    <a:pt x="972439" y="0"/>
                    <a:pt x="1253109" y="280543"/>
                    <a:pt x="1253109" y="626491"/>
                  </a:cubicBezTo>
                  <a:cubicBezTo>
                    <a:pt x="1253109" y="972439"/>
                    <a:pt x="972566" y="1253109"/>
                    <a:pt x="626491" y="1253109"/>
                  </a:cubicBezTo>
                  <a:cubicBezTo>
                    <a:pt x="280416" y="1253109"/>
                    <a:pt x="0" y="972566"/>
                    <a:pt x="0" y="626491"/>
                  </a:cubicBezTo>
                  <a:close/>
                </a:path>
              </a:pathLst>
            </a:custGeom>
            <a:solidFill>
              <a:srgbClr val="F7C948"/>
            </a:solidFill>
            <a:ln w="25400" cap="sq">
              <a:solidFill>
                <a:srgbClr val="F7C948"/>
              </a:solidFill>
              <a:prstDash val="solid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10104120" y="6080760"/>
            <a:ext cx="457200" cy="457200"/>
            <a:chOff x="0" y="0"/>
            <a:chExt cx="609600" cy="609600"/>
          </a:xfrm>
        </p:grpSpPr>
        <p:sp>
          <p:nvSpPr>
            <p:cNvPr name="Freeform 46" id="46" descr="preencoded.png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1064240" y="5852160"/>
            <a:ext cx="6126480" cy="914400"/>
            <a:chOff x="0" y="0"/>
            <a:chExt cx="8168640" cy="12192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8168640" cy="1219200"/>
            </a:xfrm>
            <a:custGeom>
              <a:avLst/>
              <a:gdLst/>
              <a:ahLst/>
              <a:cxnLst/>
              <a:rect r="r" b="b" t="t" l="l"/>
              <a:pathLst>
                <a:path h="1219200" w="8168640">
                  <a:moveTo>
                    <a:pt x="0" y="0"/>
                  </a:moveTo>
                  <a:lnTo>
                    <a:pt x="8168640" y="0"/>
                  </a:lnTo>
                  <a:lnTo>
                    <a:pt x="816864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0549" r="0" b="-80549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19050"/>
              <a:ext cx="8168640" cy="1238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F2A1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Track fit: Human-Centric Security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9875520" y="6949440"/>
            <a:ext cx="7223760" cy="1828800"/>
            <a:chOff x="0" y="0"/>
            <a:chExt cx="9631680" cy="24384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9631680" cy="2438400"/>
            </a:xfrm>
            <a:custGeom>
              <a:avLst/>
              <a:gdLst/>
              <a:ahLst/>
              <a:cxnLst/>
              <a:rect r="r" b="b" t="t" l="l"/>
              <a:pathLst>
                <a:path h="2438400" w="9631680">
                  <a:moveTo>
                    <a:pt x="0" y="0"/>
                  </a:moveTo>
                  <a:lnTo>
                    <a:pt x="9631680" y="0"/>
                  </a:lnTo>
                  <a:lnTo>
                    <a:pt x="963168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965" r="0" b="-26965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9631680" cy="2476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1F2A1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Protection sits at the click itself, needs no security training, and explains its verdict in plain language. The user always keeps the final choice.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1887200" y="9601200"/>
            <a:ext cx="5486400" cy="457200"/>
            <a:chOff x="0" y="0"/>
            <a:chExt cx="7315200" cy="6096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7315200" cy="609600"/>
            </a:xfrm>
            <a:custGeom>
              <a:avLst/>
              <a:gdLst/>
              <a:ahLst/>
              <a:cxnLst/>
              <a:rect r="r" b="b" t="t" l="l"/>
              <a:pathLst>
                <a:path h="60960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73152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8A958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Phisang · HackNusa 2026   2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85216"/>
            <a:ext cx="16459200" cy="1097280"/>
            <a:chOff x="0" y="0"/>
            <a:chExt cx="2194560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194560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20"/>
                </a:lnSpc>
              </a:pPr>
              <a:r>
                <a:rPr lang="en-US" sz="5600" b="true">
                  <a:solidFill>
                    <a:srgbClr val="1F2A1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Phisang: one verdict engine, three ways in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1645920"/>
            <a:ext cx="16459200" cy="640080"/>
            <a:chOff x="0" y="0"/>
            <a:chExt cx="21945600" cy="8534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853440"/>
            </a:xfrm>
            <a:custGeom>
              <a:avLst/>
              <a:gdLst/>
              <a:ahLst/>
              <a:cxnLst/>
              <a:rect r="r" b="b" t="t" l="l"/>
              <a:pathLst>
                <a:path h="8534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1043" r="0" b="-451043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21945600" cy="9201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5B6B5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Every link gets a classification, a 0–1 risk score and a plain-language risk level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01703" y="2730503"/>
            <a:ext cx="5146043" cy="4323083"/>
            <a:chOff x="0" y="0"/>
            <a:chExt cx="6861391" cy="576411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861302" cy="5764022"/>
            </a:xfrm>
            <a:custGeom>
              <a:avLst/>
              <a:gdLst/>
              <a:ahLst/>
              <a:cxnLst/>
              <a:rect r="r" b="b" t="t" l="l"/>
              <a:pathLst>
                <a:path h="5764022" w="6861302">
                  <a:moveTo>
                    <a:pt x="0" y="294259"/>
                  </a:moveTo>
                  <a:cubicBezTo>
                    <a:pt x="0" y="131826"/>
                    <a:pt x="131826" y="0"/>
                    <a:pt x="294259" y="0"/>
                  </a:cubicBezTo>
                  <a:lnTo>
                    <a:pt x="6567043" y="0"/>
                  </a:lnTo>
                  <a:cubicBezTo>
                    <a:pt x="6729603" y="0"/>
                    <a:pt x="6861302" y="131826"/>
                    <a:pt x="6861302" y="294259"/>
                  </a:cubicBezTo>
                  <a:lnTo>
                    <a:pt x="6861302" y="5469763"/>
                  </a:lnTo>
                  <a:cubicBezTo>
                    <a:pt x="6861302" y="5632323"/>
                    <a:pt x="6729476" y="5764022"/>
                    <a:pt x="6567043" y="5764022"/>
                  </a:cubicBezTo>
                  <a:lnTo>
                    <a:pt x="294259" y="5764022"/>
                  </a:lnTo>
                  <a:cubicBezTo>
                    <a:pt x="131826" y="5764149"/>
                    <a:pt x="0" y="5632323"/>
                    <a:pt x="0" y="5469763"/>
                  </a:cubicBezTo>
                  <a:close/>
                </a:path>
              </a:pathLst>
            </a:custGeom>
            <a:solidFill>
              <a:srgbClr val="F3F5EF"/>
            </a:solidFill>
            <a:ln w="25400" cap="sq">
              <a:solidFill>
                <a:srgbClr val="F3F5EF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358903" y="3096263"/>
            <a:ext cx="1122683" cy="1122683"/>
            <a:chOff x="0" y="0"/>
            <a:chExt cx="1496911" cy="149691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496822" cy="1496822"/>
            </a:xfrm>
            <a:custGeom>
              <a:avLst/>
              <a:gdLst/>
              <a:ahLst/>
              <a:cxnLst/>
              <a:rect r="r" b="b" t="t" l="l"/>
              <a:pathLst>
                <a:path h="1496822" w="1496822">
                  <a:moveTo>
                    <a:pt x="0" y="748411"/>
                  </a:moveTo>
                  <a:cubicBezTo>
                    <a:pt x="0" y="335153"/>
                    <a:pt x="335153" y="0"/>
                    <a:pt x="748411" y="0"/>
                  </a:cubicBezTo>
                  <a:cubicBezTo>
                    <a:pt x="1161669" y="0"/>
                    <a:pt x="1496822" y="335153"/>
                    <a:pt x="1496822" y="748411"/>
                  </a:cubicBezTo>
                  <a:cubicBezTo>
                    <a:pt x="1496822" y="1161669"/>
                    <a:pt x="1161669" y="1496822"/>
                    <a:pt x="748411" y="1496822"/>
                  </a:cubicBezTo>
                  <a:cubicBezTo>
                    <a:pt x="335153" y="1496822"/>
                    <a:pt x="0" y="1161796"/>
                    <a:pt x="0" y="748411"/>
                  </a:cubicBezTo>
                  <a:close/>
                </a:path>
              </a:pathLst>
            </a:custGeom>
            <a:solidFill>
              <a:srgbClr val="F7C948"/>
            </a:solidFill>
            <a:ln w="25400" cap="sq">
              <a:solidFill>
                <a:srgbClr val="F7C948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645920" y="3383280"/>
            <a:ext cx="548640" cy="548640"/>
            <a:chOff x="0" y="0"/>
            <a:chExt cx="731520" cy="731520"/>
          </a:xfrm>
        </p:grpSpPr>
        <p:sp>
          <p:nvSpPr>
            <p:cNvPr name="Freeform 13" id="13" descr="preencoded.png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371600" y="4480560"/>
            <a:ext cx="4297680" cy="731520"/>
            <a:chOff x="0" y="0"/>
            <a:chExt cx="5730240" cy="97536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730240" cy="975360"/>
            </a:xfrm>
            <a:custGeom>
              <a:avLst/>
              <a:gdLst/>
              <a:ahLst/>
              <a:cxnLst/>
              <a:rect r="r" b="b" t="t" l="l"/>
              <a:pathLst>
                <a:path h="975360" w="5730240">
                  <a:moveTo>
                    <a:pt x="0" y="0"/>
                  </a:moveTo>
                  <a:lnTo>
                    <a:pt x="5730240" y="0"/>
                  </a:lnTo>
                  <a:lnTo>
                    <a:pt x="573024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4474" r="0" b="-64474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5730240" cy="9944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1F2A1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Chrome extension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371600" y="5212080"/>
            <a:ext cx="4297680" cy="1737360"/>
            <a:chOff x="0" y="0"/>
            <a:chExt cx="5730240" cy="231648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730240" cy="2316480"/>
            </a:xfrm>
            <a:custGeom>
              <a:avLst/>
              <a:gdLst/>
              <a:ahLst/>
              <a:cxnLst/>
              <a:rect r="r" b="b" t="t" l="l"/>
              <a:pathLst>
                <a:path h="2316480" w="5730240">
                  <a:moveTo>
                    <a:pt x="0" y="0"/>
                  </a:moveTo>
                  <a:lnTo>
                    <a:pt x="5730240" y="0"/>
                  </a:lnTo>
                  <a:lnTo>
                    <a:pt x="5730240" y="2316480"/>
                  </a:lnTo>
                  <a:lnTo>
                    <a:pt x="0" y="2316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867" t="0" r="-1867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5730240" cy="23545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5B6B5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Holds the tab on a "checking" page, then blocks or opens it. Go back or Continue anyway.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570983" y="2730503"/>
            <a:ext cx="5146043" cy="4323083"/>
            <a:chOff x="0" y="0"/>
            <a:chExt cx="6861391" cy="576411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861302" cy="5764022"/>
            </a:xfrm>
            <a:custGeom>
              <a:avLst/>
              <a:gdLst/>
              <a:ahLst/>
              <a:cxnLst/>
              <a:rect r="r" b="b" t="t" l="l"/>
              <a:pathLst>
                <a:path h="5764022" w="6861302">
                  <a:moveTo>
                    <a:pt x="0" y="294259"/>
                  </a:moveTo>
                  <a:cubicBezTo>
                    <a:pt x="0" y="131826"/>
                    <a:pt x="131826" y="0"/>
                    <a:pt x="294259" y="0"/>
                  </a:cubicBezTo>
                  <a:lnTo>
                    <a:pt x="6567043" y="0"/>
                  </a:lnTo>
                  <a:cubicBezTo>
                    <a:pt x="6729603" y="0"/>
                    <a:pt x="6861302" y="131826"/>
                    <a:pt x="6861302" y="294259"/>
                  </a:cubicBezTo>
                  <a:lnTo>
                    <a:pt x="6861302" y="5469763"/>
                  </a:lnTo>
                  <a:cubicBezTo>
                    <a:pt x="6861302" y="5632323"/>
                    <a:pt x="6729476" y="5764022"/>
                    <a:pt x="6567043" y="5764022"/>
                  </a:cubicBezTo>
                  <a:lnTo>
                    <a:pt x="294259" y="5764022"/>
                  </a:lnTo>
                  <a:cubicBezTo>
                    <a:pt x="131826" y="5764149"/>
                    <a:pt x="0" y="5632323"/>
                    <a:pt x="0" y="5469763"/>
                  </a:cubicBezTo>
                  <a:close/>
                </a:path>
              </a:pathLst>
            </a:custGeom>
            <a:solidFill>
              <a:srgbClr val="F3F5EF"/>
            </a:solidFill>
            <a:ln w="25400" cap="sq">
              <a:solidFill>
                <a:srgbClr val="F3F5EF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7028183" y="3096263"/>
            <a:ext cx="1122683" cy="1122683"/>
            <a:chOff x="0" y="0"/>
            <a:chExt cx="1496911" cy="149691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496822" cy="1496822"/>
            </a:xfrm>
            <a:custGeom>
              <a:avLst/>
              <a:gdLst/>
              <a:ahLst/>
              <a:cxnLst/>
              <a:rect r="r" b="b" t="t" l="l"/>
              <a:pathLst>
                <a:path h="1496822" w="1496822">
                  <a:moveTo>
                    <a:pt x="0" y="748411"/>
                  </a:moveTo>
                  <a:cubicBezTo>
                    <a:pt x="0" y="335153"/>
                    <a:pt x="335153" y="0"/>
                    <a:pt x="748411" y="0"/>
                  </a:cubicBezTo>
                  <a:cubicBezTo>
                    <a:pt x="1161669" y="0"/>
                    <a:pt x="1496822" y="335153"/>
                    <a:pt x="1496822" y="748411"/>
                  </a:cubicBezTo>
                  <a:cubicBezTo>
                    <a:pt x="1496822" y="1161669"/>
                    <a:pt x="1161669" y="1496822"/>
                    <a:pt x="748411" y="1496822"/>
                  </a:cubicBezTo>
                  <a:cubicBezTo>
                    <a:pt x="335153" y="1496822"/>
                    <a:pt x="0" y="1161796"/>
                    <a:pt x="0" y="748411"/>
                  </a:cubicBezTo>
                  <a:close/>
                </a:path>
              </a:pathLst>
            </a:custGeom>
            <a:solidFill>
              <a:srgbClr val="F7C948"/>
            </a:solidFill>
            <a:ln w="25400" cap="sq">
              <a:solidFill>
                <a:srgbClr val="F7C948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7315200" y="3383280"/>
            <a:ext cx="548640" cy="548640"/>
            <a:chOff x="0" y="0"/>
            <a:chExt cx="731520" cy="731520"/>
          </a:xfrm>
        </p:grpSpPr>
        <p:sp>
          <p:nvSpPr>
            <p:cNvPr name="Freeform 25" id="25" descr="preencoded.png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7040880" y="4480560"/>
            <a:ext cx="4297680" cy="731520"/>
            <a:chOff x="0" y="0"/>
            <a:chExt cx="5730240" cy="97536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730240" cy="975360"/>
            </a:xfrm>
            <a:custGeom>
              <a:avLst/>
              <a:gdLst/>
              <a:ahLst/>
              <a:cxnLst/>
              <a:rect r="r" b="b" t="t" l="l"/>
              <a:pathLst>
                <a:path h="975360" w="5730240">
                  <a:moveTo>
                    <a:pt x="0" y="0"/>
                  </a:moveTo>
                  <a:lnTo>
                    <a:pt x="5730240" y="0"/>
                  </a:lnTo>
                  <a:lnTo>
                    <a:pt x="573024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4474" r="0" b="-64474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19050"/>
              <a:ext cx="5730240" cy="9944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1F2A1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Web scanner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7040880" y="5212080"/>
            <a:ext cx="4297680" cy="1737360"/>
            <a:chOff x="0" y="0"/>
            <a:chExt cx="5730240" cy="231648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730240" cy="2316480"/>
            </a:xfrm>
            <a:custGeom>
              <a:avLst/>
              <a:gdLst/>
              <a:ahLst/>
              <a:cxnLst/>
              <a:rect r="r" b="b" t="t" l="l"/>
              <a:pathLst>
                <a:path h="2316480" w="5730240">
                  <a:moveTo>
                    <a:pt x="0" y="0"/>
                  </a:moveTo>
                  <a:lnTo>
                    <a:pt x="5730240" y="0"/>
                  </a:lnTo>
                  <a:lnTo>
                    <a:pt x="5730240" y="2316480"/>
                  </a:lnTo>
                  <a:lnTo>
                    <a:pt x="0" y="2316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867" t="0" r="-1867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5730240" cy="23545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5B6B5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Paste any suspicious link from WhatsApp, SMS or email and see the verdict and its evidence.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2240263" y="2730503"/>
            <a:ext cx="5146043" cy="4323083"/>
            <a:chOff x="0" y="0"/>
            <a:chExt cx="6861391" cy="576411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861302" cy="5764022"/>
            </a:xfrm>
            <a:custGeom>
              <a:avLst/>
              <a:gdLst/>
              <a:ahLst/>
              <a:cxnLst/>
              <a:rect r="r" b="b" t="t" l="l"/>
              <a:pathLst>
                <a:path h="5764022" w="6861302">
                  <a:moveTo>
                    <a:pt x="0" y="294259"/>
                  </a:moveTo>
                  <a:cubicBezTo>
                    <a:pt x="0" y="131826"/>
                    <a:pt x="131826" y="0"/>
                    <a:pt x="294259" y="0"/>
                  </a:cubicBezTo>
                  <a:lnTo>
                    <a:pt x="6567043" y="0"/>
                  </a:lnTo>
                  <a:cubicBezTo>
                    <a:pt x="6729603" y="0"/>
                    <a:pt x="6861302" y="131826"/>
                    <a:pt x="6861302" y="294259"/>
                  </a:cubicBezTo>
                  <a:lnTo>
                    <a:pt x="6861302" y="5469763"/>
                  </a:lnTo>
                  <a:cubicBezTo>
                    <a:pt x="6861302" y="5632323"/>
                    <a:pt x="6729476" y="5764022"/>
                    <a:pt x="6567043" y="5764022"/>
                  </a:cubicBezTo>
                  <a:lnTo>
                    <a:pt x="294259" y="5764022"/>
                  </a:lnTo>
                  <a:cubicBezTo>
                    <a:pt x="131826" y="5764149"/>
                    <a:pt x="0" y="5632323"/>
                    <a:pt x="0" y="5469763"/>
                  </a:cubicBezTo>
                  <a:close/>
                </a:path>
              </a:pathLst>
            </a:custGeom>
            <a:solidFill>
              <a:srgbClr val="F3F5EF"/>
            </a:solidFill>
            <a:ln w="25400" cap="sq">
              <a:solidFill>
                <a:srgbClr val="F3F5EF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12697463" y="3096263"/>
            <a:ext cx="1122683" cy="1122683"/>
            <a:chOff x="0" y="0"/>
            <a:chExt cx="1496911" cy="1496911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496822" cy="1496822"/>
            </a:xfrm>
            <a:custGeom>
              <a:avLst/>
              <a:gdLst/>
              <a:ahLst/>
              <a:cxnLst/>
              <a:rect r="r" b="b" t="t" l="l"/>
              <a:pathLst>
                <a:path h="1496822" w="1496822">
                  <a:moveTo>
                    <a:pt x="0" y="748411"/>
                  </a:moveTo>
                  <a:cubicBezTo>
                    <a:pt x="0" y="335153"/>
                    <a:pt x="335153" y="0"/>
                    <a:pt x="748411" y="0"/>
                  </a:cubicBezTo>
                  <a:cubicBezTo>
                    <a:pt x="1161669" y="0"/>
                    <a:pt x="1496822" y="335153"/>
                    <a:pt x="1496822" y="748411"/>
                  </a:cubicBezTo>
                  <a:cubicBezTo>
                    <a:pt x="1496822" y="1161669"/>
                    <a:pt x="1161669" y="1496822"/>
                    <a:pt x="748411" y="1496822"/>
                  </a:cubicBezTo>
                  <a:cubicBezTo>
                    <a:pt x="335153" y="1496822"/>
                    <a:pt x="0" y="1161796"/>
                    <a:pt x="0" y="748411"/>
                  </a:cubicBezTo>
                  <a:close/>
                </a:path>
              </a:pathLst>
            </a:custGeom>
            <a:solidFill>
              <a:srgbClr val="F7C948"/>
            </a:solidFill>
            <a:ln w="25400" cap="sq">
              <a:solidFill>
                <a:srgbClr val="F7C948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12984480" y="3383280"/>
            <a:ext cx="548640" cy="548640"/>
            <a:chOff x="0" y="0"/>
            <a:chExt cx="731520" cy="731520"/>
          </a:xfrm>
        </p:grpSpPr>
        <p:sp>
          <p:nvSpPr>
            <p:cNvPr name="Freeform 37" id="37" descr="preencoded.png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2710160" y="4480560"/>
            <a:ext cx="4297680" cy="731520"/>
            <a:chOff x="0" y="0"/>
            <a:chExt cx="5730240" cy="97536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730240" cy="975360"/>
            </a:xfrm>
            <a:custGeom>
              <a:avLst/>
              <a:gdLst/>
              <a:ahLst/>
              <a:cxnLst/>
              <a:rect r="r" b="b" t="t" l="l"/>
              <a:pathLst>
                <a:path h="975360" w="5730240">
                  <a:moveTo>
                    <a:pt x="0" y="0"/>
                  </a:moveTo>
                  <a:lnTo>
                    <a:pt x="5730240" y="0"/>
                  </a:lnTo>
                  <a:lnTo>
                    <a:pt x="573024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4474" r="0" b="-64474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19050"/>
              <a:ext cx="5730240" cy="9944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1F2A1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REST API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2710160" y="5212080"/>
            <a:ext cx="4297680" cy="1737360"/>
            <a:chOff x="0" y="0"/>
            <a:chExt cx="5730240" cy="231648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5730240" cy="2316480"/>
            </a:xfrm>
            <a:custGeom>
              <a:avLst/>
              <a:gdLst/>
              <a:ahLst/>
              <a:cxnLst/>
              <a:rect r="r" b="b" t="t" l="l"/>
              <a:pathLst>
                <a:path h="2316480" w="5730240">
                  <a:moveTo>
                    <a:pt x="0" y="0"/>
                  </a:moveTo>
                  <a:lnTo>
                    <a:pt x="5730240" y="0"/>
                  </a:lnTo>
                  <a:lnTo>
                    <a:pt x="5730240" y="2316480"/>
                  </a:lnTo>
                  <a:lnTo>
                    <a:pt x="0" y="2316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867" t="0" r="-1867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5730240" cy="23545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5B6B5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POST /api/v1/analyze lets other apps, bots or mail filters use the same engine.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914400" y="7772400"/>
            <a:ext cx="2194560" cy="512064"/>
            <a:chOff x="0" y="0"/>
            <a:chExt cx="2926080" cy="682752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926080" cy="682752"/>
            </a:xfrm>
            <a:custGeom>
              <a:avLst/>
              <a:gdLst/>
              <a:ahLst/>
              <a:cxnLst/>
              <a:rect r="r" b="b" t="t" l="l"/>
              <a:pathLst>
                <a:path h="682752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507" r="0" b="-33507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292608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F2A1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Risk levels: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3108960" y="7772400"/>
            <a:ext cx="3291840" cy="512064"/>
            <a:chOff x="0" y="0"/>
            <a:chExt cx="4389120" cy="682752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4389120" cy="682752"/>
            </a:xfrm>
            <a:custGeom>
              <a:avLst/>
              <a:gdLst/>
              <a:ahLst/>
              <a:cxnLst/>
              <a:rect r="r" b="b" t="t" l="l"/>
              <a:pathLst>
                <a:path h="682752" w="4389120">
                  <a:moveTo>
                    <a:pt x="0" y="341376"/>
                  </a:moveTo>
                  <a:cubicBezTo>
                    <a:pt x="0" y="152781"/>
                    <a:pt x="152781" y="0"/>
                    <a:pt x="341376" y="0"/>
                  </a:cubicBezTo>
                  <a:lnTo>
                    <a:pt x="4047744" y="0"/>
                  </a:lnTo>
                  <a:cubicBezTo>
                    <a:pt x="4236339" y="0"/>
                    <a:pt x="4389120" y="152781"/>
                    <a:pt x="4389120" y="341376"/>
                  </a:cubicBezTo>
                  <a:cubicBezTo>
                    <a:pt x="4389120" y="529971"/>
                    <a:pt x="4236339" y="682752"/>
                    <a:pt x="4047744" y="682752"/>
                  </a:cubicBezTo>
                  <a:lnTo>
                    <a:pt x="341376" y="682752"/>
                  </a:lnTo>
                  <a:cubicBezTo>
                    <a:pt x="152781" y="682752"/>
                    <a:pt x="0" y="529971"/>
                    <a:pt x="0" y="341376"/>
                  </a:cubicBezTo>
                  <a:close/>
                </a:path>
              </a:pathLst>
            </a:custGeom>
            <a:solidFill>
              <a:srgbClr val="467235"/>
            </a:solidFill>
            <a:ln cap="sq">
              <a:noFill/>
              <a:prstDash val="solid"/>
              <a:miter/>
            </a:ln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4389120" cy="7208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SAFE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3108960" y="8412480"/>
            <a:ext cx="3291840" cy="457200"/>
            <a:chOff x="0" y="0"/>
            <a:chExt cx="4389120" cy="6096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4389120" cy="609600"/>
            </a:xfrm>
            <a:custGeom>
              <a:avLst/>
              <a:gdLst/>
              <a:ahLst/>
              <a:cxnLst/>
              <a:rect r="r" b="b" t="t" l="l"/>
              <a:pathLst>
                <a:path h="60960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0292" r="0" b="-90292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438912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8A958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 – 0.4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6675120" y="7772400"/>
            <a:ext cx="3291840" cy="512064"/>
            <a:chOff x="0" y="0"/>
            <a:chExt cx="4389120" cy="682752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4389120" cy="682752"/>
            </a:xfrm>
            <a:custGeom>
              <a:avLst/>
              <a:gdLst/>
              <a:ahLst/>
              <a:cxnLst/>
              <a:rect r="r" b="b" t="t" l="l"/>
              <a:pathLst>
                <a:path h="682752" w="4389120">
                  <a:moveTo>
                    <a:pt x="0" y="341376"/>
                  </a:moveTo>
                  <a:cubicBezTo>
                    <a:pt x="0" y="152781"/>
                    <a:pt x="152781" y="0"/>
                    <a:pt x="341376" y="0"/>
                  </a:cubicBezTo>
                  <a:lnTo>
                    <a:pt x="4047744" y="0"/>
                  </a:lnTo>
                  <a:cubicBezTo>
                    <a:pt x="4236339" y="0"/>
                    <a:pt x="4389120" y="152781"/>
                    <a:pt x="4389120" y="341376"/>
                  </a:cubicBezTo>
                  <a:cubicBezTo>
                    <a:pt x="4389120" y="529971"/>
                    <a:pt x="4236339" y="682752"/>
                    <a:pt x="4047744" y="682752"/>
                  </a:cubicBezTo>
                  <a:lnTo>
                    <a:pt x="341376" y="682752"/>
                  </a:lnTo>
                  <a:cubicBezTo>
                    <a:pt x="152781" y="682752"/>
                    <a:pt x="0" y="529971"/>
                    <a:pt x="0" y="341376"/>
                  </a:cubicBezTo>
                  <a:close/>
                </a:path>
              </a:pathLst>
            </a:custGeom>
            <a:solidFill>
              <a:srgbClr val="B7950B"/>
            </a:solidFill>
            <a:ln cap="sq">
              <a:noFill/>
              <a:prstDash val="solid"/>
              <a:miter/>
            </a:ln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4389120" cy="7208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POTENTIALLY UNSAFE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6675120" y="8412480"/>
            <a:ext cx="3291840" cy="457200"/>
            <a:chOff x="0" y="0"/>
            <a:chExt cx="4389120" cy="6096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4389120" cy="609600"/>
            </a:xfrm>
            <a:custGeom>
              <a:avLst/>
              <a:gdLst/>
              <a:ahLst/>
              <a:cxnLst/>
              <a:rect r="r" b="b" t="t" l="l"/>
              <a:pathLst>
                <a:path h="60960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0292" r="0" b="-90292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438912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8A958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0.4 – 0.6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0243185" y="7772400"/>
            <a:ext cx="3291840" cy="512064"/>
            <a:chOff x="0" y="0"/>
            <a:chExt cx="4389120" cy="682752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4389120" cy="682752"/>
            </a:xfrm>
            <a:custGeom>
              <a:avLst/>
              <a:gdLst/>
              <a:ahLst/>
              <a:cxnLst/>
              <a:rect r="r" b="b" t="t" l="l"/>
              <a:pathLst>
                <a:path h="682752" w="4389120">
                  <a:moveTo>
                    <a:pt x="0" y="341376"/>
                  </a:moveTo>
                  <a:cubicBezTo>
                    <a:pt x="0" y="152781"/>
                    <a:pt x="152781" y="0"/>
                    <a:pt x="341376" y="0"/>
                  </a:cubicBezTo>
                  <a:lnTo>
                    <a:pt x="4047744" y="0"/>
                  </a:lnTo>
                  <a:cubicBezTo>
                    <a:pt x="4236339" y="0"/>
                    <a:pt x="4389120" y="152781"/>
                    <a:pt x="4389120" y="341376"/>
                  </a:cubicBezTo>
                  <a:cubicBezTo>
                    <a:pt x="4389120" y="529971"/>
                    <a:pt x="4236339" y="682752"/>
                    <a:pt x="4047744" y="682752"/>
                  </a:cubicBezTo>
                  <a:lnTo>
                    <a:pt x="341376" y="682752"/>
                  </a:lnTo>
                  <a:cubicBezTo>
                    <a:pt x="152781" y="682752"/>
                    <a:pt x="0" y="529971"/>
                    <a:pt x="0" y="341376"/>
                  </a:cubicBezTo>
                  <a:close/>
                </a:path>
              </a:pathLst>
            </a:custGeom>
            <a:solidFill>
              <a:srgbClr val="C0392B"/>
            </a:solidFill>
            <a:ln cap="sq">
              <a:noFill/>
              <a:prstDash val="solid"/>
              <a:miter/>
            </a:ln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4389120" cy="7208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High Risk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0243185" y="8412480"/>
            <a:ext cx="3291840" cy="457200"/>
            <a:chOff x="0" y="0"/>
            <a:chExt cx="4389120" cy="60960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4389120" cy="609600"/>
            </a:xfrm>
            <a:custGeom>
              <a:avLst/>
              <a:gdLst/>
              <a:ahLst/>
              <a:cxnLst/>
              <a:rect r="r" b="b" t="t" l="l"/>
              <a:pathLst>
                <a:path h="60960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0292" r="0" b="-90292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438912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8A958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0.6– 1.0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1887200" y="9601200"/>
            <a:ext cx="5486400" cy="457200"/>
            <a:chOff x="0" y="0"/>
            <a:chExt cx="7315200" cy="60960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7315200" cy="609600"/>
            </a:xfrm>
            <a:custGeom>
              <a:avLst/>
              <a:gdLst/>
              <a:ahLst/>
              <a:cxnLst/>
              <a:rect r="r" b="b" t="t" l="l"/>
              <a:pathLst>
                <a:path h="60960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73152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8A958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Phisang · HackNusa 2026   3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85216"/>
            <a:ext cx="16459200" cy="1097280"/>
            <a:chOff x="0" y="0"/>
            <a:chExt cx="2194560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194560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20"/>
                </a:lnSpc>
              </a:pPr>
              <a:r>
                <a:rPr lang="en-US" sz="5600" b="true">
                  <a:solidFill>
                    <a:srgbClr val="1F2A1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What makes Phisang different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1645920"/>
            <a:ext cx="16459200" cy="640080"/>
            <a:chOff x="0" y="0"/>
            <a:chExt cx="21945600" cy="8534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853440"/>
            </a:xfrm>
            <a:custGeom>
              <a:avLst/>
              <a:gdLst/>
              <a:ahLst/>
              <a:cxnLst/>
              <a:rect r="r" b="b" t="t" l="l"/>
              <a:pathLst>
                <a:path h="8534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1043" r="0" b="-451043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21945600" cy="9201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5B6B5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Not a better blocklist: a verdict for an address nobody has reported yet</a:t>
              </a:r>
            </a:p>
          </p:txBody>
        </p:sp>
      </p:grpSp>
      <p:graphicFrame>
        <p:nvGraphicFramePr>
          <p:cNvPr name="Table 8" id="8"/>
          <p:cNvGraphicFramePr>
            <a:graphicFrameLocks noGrp="true"/>
          </p:cNvGraphicFramePr>
          <p:nvPr/>
        </p:nvGraphicFramePr>
        <p:xfrm>
          <a:off x="914400" y="2560320"/>
          <a:ext cx="16383000" cy="3190240"/>
        </p:xfrm>
        <a:graphic>
          <a:graphicData uri="http://schemas.openxmlformats.org/drawingml/2006/table">
            <a:tbl>
              <a:tblPr/>
              <a:tblGrid>
                <a:gridCol w="5989565"/>
                <a:gridCol w="3464478"/>
                <a:gridCol w="3464478"/>
                <a:gridCol w="3464478"/>
              </a:tblGrid>
              <a:tr h="63499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39"/>
                        </a:lnSpc>
                        <a:defRPr/>
                      </a:pPr>
                      <a:r>
                        <a:rPr lang="en-US" sz="2199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Capability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D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61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39"/>
                        </a:lnSpc>
                        <a:defRPr/>
                      </a:pPr>
                      <a:r>
                        <a:rPr lang="en-US" sz="2199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Browser safe-browsing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D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61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39"/>
                        </a:lnSpc>
                        <a:defRPr/>
                      </a:pPr>
                      <a:r>
                        <a:rPr lang="en-US" sz="2199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Antivirus / threat feed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D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61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39"/>
                        </a:lnSpc>
                        <a:defRPr/>
                      </a:pPr>
                      <a:r>
                        <a:rPr lang="en-US" sz="2199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Phisang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D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616"/>
                    </a:solidFill>
                  </a:tcPr>
                </a:tc>
              </a:tr>
              <a:tr h="64008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1F2A1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Blocks a newly registered domain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D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1F2A1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No, not yet listed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D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1F2A1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No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D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39"/>
                        </a:lnSpc>
                        <a:defRPr/>
                      </a:pPr>
                      <a:r>
                        <a:rPr lang="en-US" sz="2199" b="true">
                          <a:solidFill>
                            <a:srgbClr val="467235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Yes, via page content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D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0DC"/>
                    </a:solidFill>
                  </a:tcPr>
                </a:tc>
              </a:tr>
              <a:tr h="64008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1F2A1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Reads the destination page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D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1F2A1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No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D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1F2A1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No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D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39"/>
                        </a:lnSpc>
                        <a:defRPr/>
                      </a:pPr>
                      <a:r>
                        <a:rPr lang="en-US" sz="2199" b="true">
                          <a:solidFill>
                            <a:srgbClr val="467235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Yes, server-side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D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0DC"/>
                    </a:solidFill>
                  </a:tcPr>
                </a:tc>
              </a:tr>
              <a:tr h="64008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1F2A1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Tells "unknown" apart from "safe"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D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1F2A1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Partly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D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1F2A1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No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D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39"/>
                        </a:lnSpc>
                        <a:defRPr/>
                      </a:pPr>
                      <a:r>
                        <a:rPr lang="en-US" sz="2199" b="true">
                          <a:solidFill>
                            <a:srgbClr val="467235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Yes, explicitly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D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0DC"/>
                    </a:solidFill>
                  </a:tcPr>
                </a:tc>
              </a:tr>
              <a:tr h="63499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1F2A1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Explains its verdict, lets users dispute it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D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1F2A1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No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D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1F2A1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No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D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39"/>
                        </a:lnSpc>
                        <a:defRPr/>
                      </a:pPr>
                      <a:r>
                        <a:rPr lang="en-US" sz="2199" b="true">
                          <a:solidFill>
                            <a:srgbClr val="467235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Yes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D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0DC"/>
                    </a:solidFill>
                  </a:tcPr>
                </a:tc>
              </a:tr>
            </a:tbl>
          </a:graphicData>
        </a:graphic>
      </p:graphicFrame>
      <p:grpSp>
        <p:nvGrpSpPr>
          <p:cNvPr name="Group 9" id="9"/>
          <p:cNvGrpSpPr/>
          <p:nvPr/>
        </p:nvGrpSpPr>
        <p:grpSpPr>
          <a:xfrm rot="0">
            <a:off x="901703" y="6479543"/>
            <a:ext cx="3865883" cy="2677163"/>
            <a:chOff x="0" y="0"/>
            <a:chExt cx="5154511" cy="356955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154549" cy="3569589"/>
            </a:xfrm>
            <a:custGeom>
              <a:avLst/>
              <a:gdLst/>
              <a:ahLst/>
              <a:cxnLst/>
              <a:rect r="r" b="b" t="t" l="l"/>
              <a:pathLst>
                <a:path h="3569589" w="5154549">
                  <a:moveTo>
                    <a:pt x="0" y="295402"/>
                  </a:moveTo>
                  <a:cubicBezTo>
                    <a:pt x="0" y="132207"/>
                    <a:pt x="132207" y="0"/>
                    <a:pt x="295402" y="0"/>
                  </a:cubicBezTo>
                  <a:lnTo>
                    <a:pt x="4859147" y="0"/>
                  </a:lnTo>
                  <a:cubicBezTo>
                    <a:pt x="5022342" y="0"/>
                    <a:pt x="5154549" y="132207"/>
                    <a:pt x="5154549" y="295402"/>
                  </a:cubicBezTo>
                  <a:lnTo>
                    <a:pt x="5154549" y="3274187"/>
                  </a:lnTo>
                  <a:cubicBezTo>
                    <a:pt x="5154549" y="3437382"/>
                    <a:pt x="5022342" y="3569589"/>
                    <a:pt x="4859147" y="3569589"/>
                  </a:cubicBezTo>
                  <a:lnTo>
                    <a:pt x="295402" y="3569589"/>
                  </a:lnTo>
                  <a:cubicBezTo>
                    <a:pt x="132207" y="3569589"/>
                    <a:pt x="0" y="3437255"/>
                    <a:pt x="0" y="3274187"/>
                  </a:cubicBezTo>
                  <a:close/>
                </a:path>
              </a:pathLst>
            </a:custGeom>
            <a:solidFill>
              <a:srgbClr val="F3F5EF"/>
            </a:solidFill>
            <a:ln w="25400" cap="sq">
              <a:solidFill>
                <a:srgbClr val="F3F5EF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1176023" y="6753863"/>
            <a:ext cx="793499" cy="793499"/>
            <a:chOff x="0" y="0"/>
            <a:chExt cx="1057999" cy="105799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58037" cy="1058037"/>
            </a:xfrm>
            <a:custGeom>
              <a:avLst/>
              <a:gdLst/>
              <a:ahLst/>
              <a:cxnLst/>
              <a:rect r="r" b="b" t="t" l="l"/>
              <a:pathLst>
                <a:path h="1058037" w="1058037">
                  <a:moveTo>
                    <a:pt x="0" y="528955"/>
                  </a:moveTo>
                  <a:cubicBezTo>
                    <a:pt x="0" y="236855"/>
                    <a:pt x="236855" y="0"/>
                    <a:pt x="528955" y="0"/>
                  </a:cubicBezTo>
                  <a:cubicBezTo>
                    <a:pt x="821055" y="0"/>
                    <a:pt x="1058037" y="236855"/>
                    <a:pt x="1058037" y="528955"/>
                  </a:cubicBezTo>
                  <a:cubicBezTo>
                    <a:pt x="1058037" y="821055"/>
                    <a:pt x="821182" y="1058037"/>
                    <a:pt x="528955" y="1058037"/>
                  </a:cubicBezTo>
                  <a:cubicBezTo>
                    <a:pt x="236728" y="1058037"/>
                    <a:pt x="0" y="821182"/>
                    <a:pt x="0" y="528955"/>
                  </a:cubicBezTo>
                  <a:close/>
                </a:path>
              </a:pathLst>
            </a:custGeom>
            <a:solidFill>
              <a:srgbClr val="F7C948"/>
            </a:solidFill>
            <a:ln w="25400" cap="sq">
              <a:solidFill>
                <a:srgbClr val="F7C948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380744" y="6958584"/>
            <a:ext cx="384048" cy="384048"/>
            <a:chOff x="0" y="0"/>
            <a:chExt cx="512064" cy="512064"/>
          </a:xfrm>
        </p:grpSpPr>
        <p:sp>
          <p:nvSpPr>
            <p:cNvPr name="Freeform 14" id="14" descr="preencoded.png"/>
            <p:cNvSpPr/>
            <p:nvPr/>
          </p:nvSpPr>
          <p:spPr>
            <a:xfrm flipH="false" flipV="false" rot="0">
              <a:off x="0" y="0"/>
              <a:ext cx="512064" cy="512064"/>
            </a:xfrm>
            <a:custGeom>
              <a:avLst/>
              <a:gdLst/>
              <a:ahLst/>
              <a:cxnLst/>
              <a:rect r="r" b="b" t="t" l="l"/>
              <a:pathLst>
                <a:path h="512064" w="512064">
                  <a:moveTo>
                    <a:pt x="0" y="0"/>
                  </a:moveTo>
                  <a:lnTo>
                    <a:pt x="512064" y="0"/>
                  </a:lnTo>
                  <a:lnTo>
                    <a:pt x="512064" y="512064"/>
                  </a:lnTo>
                  <a:lnTo>
                    <a:pt x="0" y="5120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188720" y="7644384"/>
            <a:ext cx="3383280" cy="585216"/>
            <a:chOff x="0" y="0"/>
            <a:chExt cx="4511040" cy="78028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511040" cy="780288"/>
            </a:xfrm>
            <a:custGeom>
              <a:avLst/>
              <a:gdLst/>
              <a:ahLst/>
              <a:cxnLst/>
              <a:rect r="r" b="b" t="t" l="l"/>
              <a:pathLst>
                <a:path h="780288" w="4511040">
                  <a:moveTo>
                    <a:pt x="0" y="0"/>
                  </a:moveTo>
                  <a:lnTo>
                    <a:pt x="4511040" y="0"/>
                  </a:lnTo>
                  <a:lnTo>
                    <a:pt x="451104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647" r="0" b="-62647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4511040" cy="7993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1F2A1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Model can't block alone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188720" y="8229600"/>
            <a:ext cx="3383280" cy="822960"/>
            <a:chOff x="0" y="0"/>
            <a:chExt cx="4511040" cy="10972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5110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4511040">
                  <a:moveTo>
                    <a:pt x="0" y="0"/>
                  </a:moveTo>
                  <a:lnTo>
                    <a:pt x="4511040" y="0"/>
                  </a:lnTo>
                  <a:lnTo>
                    <a:pt x="45110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105" r="0" b="-30105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451104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5B6B5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Needs a doubtful URL or a password field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5107943" y="6479543"/>
            <a:ext cx="3865883" cy="2677163"/>
            <a:chOff x="0" y="0"/>
            <a:chExt cx="5154511" cy="356955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154549" cy="3569589"/>
            </a:xfrm>
            <a:custGeom>
              <a:avLst/>
              <a:gdLst/>
              <a:ahLst/>
              <a:cxnLst/>
              <a:rect r="r" b="b" t="t" l="l"/>
              <a:pathLst>
                <a:path h="3569589" w="5154549">
                  <a:moveTo>
                    <a:pt x="0" y="295402"/>
                  </a:moveTo>
                  <a:cubicBezTo>
                    <a:pt x="0" y="132207"/>
                    <a:pt x="132207" y="0"/>
                    <a:pt x="295402" y="0"/>
                  </a:cubicBezTo>
                  <a:lnTo>
                    <a:pt x="4859147" y="0"/>
                  </a:lnTo>
                  <a:cubicBezTo>
                    <a:pt x="5022342" y="0"/>
                    <a:pt x="5154549" y="132207"/>
                    <a:pt x="5154549" y="295402"/>
                  </a:cubicBezTo>
                  <a:lnTo>
                    <a:pt x="5154549" y="3274187"/>
                  </a:lnTo>
                  <a:cubicBezTo>
                    <a:pt x="5154549" y="3437382"/>
                    <a:pt x="5022342" y="3569589"/>
                    <a:pt x="4859147" y="3569589"/>
                  </a:cubicBezTo>
                  <a:lnTo>
                    <a:pt x="295402" y="3569589"/>
                  </a:lnTo>
                  <a:cubicBezTo>
                    <a:pt x="132207" y="3569589"/>
                    <a:pt x="0" y="3437255"/>
                    <a:pt x="0" y="3274187"/>
                  </a:cubicBezTo>
                  <a:close/>
                </a:path>
              </a:pathLst>
            </a:custGeom>
            <a:solidFill>
              <a:srgbClr val="F3F5EF"/>
            </a:solidFill>
            <a:ln w="25400" cap="sq">
              <a:solidFill>
                <a:srgbClr val="F3F5EF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5382263" y="6753863"/>
            <a:ext cx="793499" cy="793499"/>
            <a:chOff x="0" y="0"/>
            <a:chExt cx="1057999" cy="105799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58037" cy="1058037"/>
            </a:xfrm>
            <a:custGeom>
              <a:avLst/>
              <a:gdLst/>
              <a:ahLst/>
              <a:cxnLst/>
              <a:rect r="r" b="b" t="t" l="l"/>
              <a:pathLst>
                <a:path h="1058037" w="1058037">
                  <a:moveTo>
                    <a:pt x="0" y="528955"/>
                  </a:moveTo>
                  <a:cubicBezTo>
                    <a:pt x="0" y="236855"/>
                    <a:pt x="236855" y="0"/>
                    <a:pt x="528955" y="0"/>
                  </a:cubicBezTo>
                  <a:cubicBezTo>
                    <a:pt x="821055" y="0"/>
                    <a:pt x="1058037" y="236855"/>
                    <a:pt x="1058037" y="528955"/>
                  </a:cubicBezTo>
                  <a:cubicBezTo>
                    <a:pt x="1058037" y="821055"/>
                    <a:pt x="821182" y="1058037"/>
                    <a:pt x="528955" y="1058037"/>
                  </a:cubicBezTo>
                  <a:cubicBezTo>
                    <a:pt x="236728" y="1058037"/>
                    <a:pt x="0" y="821182"/>
                    <a:pt x="0" y="528955"/>
                  </a:cubicBezTo>
                  <a:close/>
                </a:path>
              </a:pathLst>
            </a:custGeom>
            <a:solidFill>
              <a:srgbClr val="F7C948"/>
            </a:solidFill>
            <a:ln w="25400" cap="sq">
              <a:solidFill>
                <a:srgbClr val="F7C948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5586984" y="6958584"/>
            <a:ext cx="384048" cy="384048"/>
            <a:chOff x="0" y="0"/>
            <a:chExt cx="512064" cy="512064"/>
          </a:xfrm>
        </p:grpSpPr>
        <p:sp>
          <p:nvSpPr>
            <p:cNvPr name="Freeform 26" id="26" descr="preencoded.png"/>
            <p:cNvSpPr/>
            <p:nvPr/>
          </p:nvSpPr>
          <p:spPr>
            <a:xfrm flipH="false" flipV="false" rot="0">
              <a:off x="0" y="0"/>
              <a:ext cx="512064" cy="512064"/>
            </a:xfrm>
            <a:custGeom>
              <a:avLst/>
              <a:gdLst/>
              <a:ahLst/>
              <a:cxnLst/>
              <a:rect r="r" b="b" t="t" l="l"/>
              <a:pathLst>
                <a:path h="512064" w="512064">
                  <a:moveTo>
                    <a:pt x="0" y="0"/>
                  </a:moveTo>
                  <a:lnTo>
                    <a:pt x="512064" y="0"/>
                  </a:lnTo>
                  <a:lnTo>
                    <a:pt x="512064" y="512064"/>
                  </a:lnTo>
                  <a:lnTo>
                    <a:pt x="0" y="5120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5394960" y="7644384"/>
            <a:ext cx="3383280" cy="585216"/>
            <a:chOff x="0" y="0"/>
            <a:chExt cx="4511040" cy="78028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511040" cy="780288"/>
            </a:xfrm>
            <a:custGeom>
              <a:avLst/>
              <a:gdLst/>
              <a:ahLst/>
              <a:cxnLst/>
              <a:rect r="r" b="b" t="t" l="l"/>
              <a:pathLst>
                <a:path h="780288" w="4511040">
                  <a:moveTo>
                    <a:pt x="0" y="0"/>
                  </a:moveTo>
                  <a:lnTo>
                    <a:pt x="4511040" y="0"/>
                  </a:lnTo>
                  <a:lnTo>
                    <a:pt x="451104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647" r="0" b="-62647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19050"/>
              <a:ext cx="4511040" cy="7993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1F2A1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Typosquat shape wins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5394960" y="8229600"/>
            <a:ext cx="3383280" cy="822960"/>
            <a:chOff x="0" y="0"/>
            <a:chExt cx="4511040" cy="109728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5110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4511040">
                  <a:moveTo>
                    <a:pt x="0" y="0"/>
                  </a:moveTo>
                  <a:lnTo>
                    <a:pt x="4511040" y="0"/>
                  </a:lnTo>
                  <a:lnTo>
                    <a:pt x="45110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105" r="0" b="-30105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47625"/>
              <a:ext cx="451104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5B6B5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Brand-agnostic -com / -net rule beats a clean page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9314183" y="6479543"/>
            <a:ext cx="3865883" cy="2677163"/>
            <a:chOff x="0" y="0"/>
            <a:chExt cx="5154511" cy="3569551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154549" cy="3569589"/>
            </a:xfrm>
            <a:custGeom>
              <a:avLst/>
              <a:gdLst/>
              <a:ahLst/>
              <a:cxnLst/>
              <a:rect r="r" b="b" t="t" l="l"/>
              <a:pathLst>
                <a:path h="3569589" w="5154549">
                  <a:moveTo>
                    <a:pt x="0" y="295402"/>
                  </a:moveTo>
                  <a:cubicBezTo>
                    <a:pt x="0" y="132207"/>
                    <a:pt x="132207" y="0"/>
                    <a:pt x="295402" y="0"/>
                  </a:cubicBezTo>
                  <a:lnTo>
                    <a:pt x="4859147" y="0"/>
                  </a:lnTo>
                  <a:cubicBezTo>
                    <a:pt x="5022342" y="0"/>
                    <a:pt x="5154549" y="132207"/>
                    <a:pt x="5154549" y="295402"/>
                  </a:cubicBezTo>
                  <a:lnTo>
                    <a:pt x="5154549" y="3274187"/>
                  </a:lnTo>
                  <a:cubicBezTo>
                    <a:pt x="5154549" y="3437382"/>
                    <a:pt x="5022342" y="3569589"/>
                    <a:pt x="4859147" y="3569589"/>
                  </a:cubicBezTo>
                  <a:lnTo>
                    <a:pt x="295402" y="3569589"/>
                  </a:lnTo>
                  <a:cubicBezTo>
                    <a:pt x="132207" y="3569589"/>
                    <a:pt x="0" y="3437255"/>
                    <a:pt x="0" y="3274187"/>
                  </a:cubicBezTo>
                  <a:close/>
                </a:path>
              </a:pathLst>
            </a:custGeom>
            <a:solidFill>
              <a:srgbClr val="F3F5EF"/>
            </a:solidFill>
            <a:ln w="25400" cap="sq">
              <a:solidFill>
                <a:srgbClr val="F3F5EF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9588503" y="6753863"/>
            <a:ext cx="793499" cy="793499"/>
            <a:chOff x="0" y="0"/>
            <a:chExt cx="1057999" cy="1057999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58037" cy="1058037"/>
            </a:xfrm>
            <a:custGeom>
              <a:avLst/>
              <a:gdLst/>
              <a:ahLst/>
              <a:cxnLst/>
              <a:rect r="r" b="b" t="t" l="l"/>
              <a:pathLst>
                <a:path h="1058037" w="1058037">
                  <a:moveTo>
                    <a:pt x="0" y="528955"/>
                  </a:moveTo>
                  <a:cubicBezTo>
                    <a:pt x="0" y="236855"/>
                    <a:pt x="236855" y="0"/>
                    <a:pt x="528955" y="0"/>
                  </a:cubicBezTo>
                  <a:cubicBezTo>
                    <a:pt x="821055" y="0"/>
                    <a:pt x="1058037" y="236855"/>
                    <a:pt x="1058037" y="528955"/>
                  </a:cubicBezTo>
                  <a:cubicBezTo>
                    <a:pt x="1058037" y="821055"/>
                    <a:pt x="821182" y="1058037"/>
                    <a:pt x="528955" y="1058037"/>
                  </a:cubicBezTo>
                  <a:cubicBezTo>
                    <a:pt x="236728" y="1058037"/>
                    <a:pt x="0" y="821182"/>
                    <a:pt x="0" y="528955"/>
                  </a:cubicBezTo>
                  <a:close/>
                </a:path>
              </a:pathLst>
            </a:custGeom>
            <a:solidFill>
              <a:srgbClr val="F7C948"/>
            </a:solidFill>
            <a:ln w="25400" cap="sq">
              <a:solidFill>
                <a:srgbClr val="F7C948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9793224" y="6958584"/>
            <a:ext cx="384048" cy="384048"/>
            <a:chOff x="0" y="0"/>
            <a:chExt cx="512064" cy="512064"/>
          </a:xfrm>
        </p:grpSpPr>
        <p:sp>
          <p:nvSpPr>
            <p:cNvPr name="Freeform 38" id="38" descr="preencoded.png"/>
            <p:cNvSpPr/>
            <p:nvPr/>
          </p:nvSpPr>
          <p:spPr>
            <a:xfrm flipH="false" flipV="false" rot="0">
              <a:off x="0" y="0"/>
              <a:ext cx="512064" cy="512064"/>
            </a:xfrm>
            <a:custGeom>
              <a:avLst/>
              <a:gdLst/>
              <a:ahLst/>
              <a:cxnLst/>
              <a:rect r="r" b="b" t="t" l="l"/>
              <a:pathLst>
                <a:path h="512064" w="512064">
                  <a:moveTo>
                    <a:pt x="0" y="0"/>
                  </a:moveTo>
                  <a:lnTo>
                    <a:pt x="512064" y="0"/>
                  </a:lnTo>
                  <a:lnTo>
                    <a:pt x="512064" y="512064"/>
                  </a:lnTo>
                  <a:lnTo>
                    <a:pt x="0" y="5120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9601200" y="7644384"/>
            <a:ext cx="3383280" cy="585216"/>
            <a:chOff x="0" y="0"/>
            <a:chExt cx="4511040" cy="780288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511040" cy="780288"/>
            </a:xfrm>
            <a:custGeom>
              <a:avLst/>
              <a:gdLst/>
              <a:ahLst/>
              <a:cxnLst/>
              <a:rect r="r" b="b" t="t" l="l"/>
              <a:pathLst>
                <a:path h="780288" w="4511040">
                  <a:moveTo>
                    <a:pt x="0" y="0"/>
                  </a:moveTo>
                  <a:lnTo>
                    <a:pt x="4511040" y="0"/>
                  </a:lnTo>
                  <a:lnTo>
                    <a:pt x="451104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647" r="0" b="-62647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19050"/>
              <a:ext cx="4511040" cy="7993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1F2A1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Failed ≠ clean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9601200" y="8229600"/>
            <a:ext cx="3383280" cy="822960"/>
            <a:chOff x="0" y="0"/>
            <a:chExt cx="4511040" cy="109728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45110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4511040">
                  <a:moveTo>
                    <a:pt x="0" y="0"/>
                  </a:moveTo>
                  <a:lnTo>
                    <a:pt x="4511040" y="0"/>
                  </a:lnTo>
                  <a:lnTo>
                    <a:pt x="45110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105" r="0" b="-30105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47625"/>
              <a:ext cx="451104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5B6B5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Unavailable is logged, never reused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3520423" y="6479543"/>
            <a:ext cx="3865883" cy="2677163"/>
            <a:chOff x="0" y="0"/>
            <a:chExt cx="5154511" cy="3569551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5154549" cy="3569589"/>
            </a:xfrm>
            <a:custGeom>
              <a:avLst/>
              <a:gdLst/>
              <a:ahLst/>
              <a:cxnLst/>
              <a:rect r="r" b="b" t="t" l="l"/>
              <a:pathLst>
                <a:path h="3569589" w="5154549">
                  <a:moveTo>
                    <a:pt x="0" y="295402"/>
                  </a:moveTo>
                  <a:cubicBezTo>
                    <a:pt x="0" y="132207"/>
                    <a:pt x="132207" y="0"/>
                    <a:pt x="295402" y="0"/>
                  </a:cubicBezTo>
                  <a:lnTo>
                    <a:pt x="4859147" y="0"/>
                  </a:lnTo>
                  <a:cubicBezTo>
                    <a:pt x="5022342" y="0"/>
                    <a:pt x="5154549" y="132207"/>
                    <a:pt x="5154549" y="295402"/>
                  </a:cubicBezTo>
                  <a:lnTo>
                    <a:pt x="5154549" y="3274187"/>
                  </a:lnTo>
                  <a:cubicBezTo>
                    <a:pt x="5154549" y="3437382"/>
                    <a:pt x="5022342" y="3569589"/>
                    <a:pt x="4859147" y="3569589"/>
                  </a:cubicBezTo>
                  <a:lnTo>
                    <a:pt x="295402" y="3569589"/>
                  </a:lnTo>
                  <a:cubicBezTo>
                    <a:pt x="132207" y="3569589"/>
                    <a:pt x="0" y="3437255"/>
                    <a:pt x="0" y="3274187"/>
                  </a:cubicBezTo>
                  <a:close/>
                </a:path>
              </a:pathLst>
            </a:custGeom>
            <a:solidFill>
              <a:srgbClr val="F3F5EF"/>
            </a:solidFill>
            <a:ln w="25400" cap="sq">
              <a:solidFill>
                <a:srgbClr val="F3F5EF"/>
              </a:solidFill>
              <a:prstDash val="solid"/>
              <a:miter/>
            </a:ln>
          </p:spPr>
        </p:sp>
      </p:grpSp>
      <p:grpSp>
        <p:nvGrpSpPr>
          <p:cNvPr name="Group 47" id="47"/>
          <p:cNvGrpSpPr/>
          <p:nvPr/>
        </p:nvGrpSpPr>
        <p:grpSpPr>
          <a:xfrm rot="0">
            <a:off x="13794743" y="6753863"/>
            <a:ext cx="793499" cy="793499"/>
            <a:chOff x="0" y="0"/>
            <a:chExt cx="1057999" cy="1057999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058037" cy="1058037"/>
            </a:xfrm>
            <a:custGeom>
              <a:avLst/>
              <a:gdLst/>
              <a:ahLst/>
              <a:cxnLst/>
              <a:rect r="r" b="b" t="t" l="l"/>
              <a:pathLst>
                <a:path h="1058037" w="1058037">
                  <a:moveTo>
                    <a:pt x="0" y="528955"/>
                  </a:moveTo>
                  <a:cubicBezTo>
                    <a:pt x="0" y="236855"/>
                    <a:pt x="236855" y="0"/>
                    <a:pt x="528955" y="0"/>
                  </a:cubicBezTo>
                  <a:cubicBezTo>
                    <a:pt x="821055" y="0"/>
                    <a:pt x="1058037" y="236855"/>
                    <a:pt x="1058037" y="528955"/>
                  </a:cubicBezTo>
                  <a:cubicBezTo>
                    <a:pt x="1058037" y="821055"/>
                    <a:pt x="821182" y="1058037"/>
                    <a:pt x="528955" y="1058037"/>
                  </a:cubicBezTo>
                  <a:cubicBezTo>
                    <a:pt x="236728" y="1058037"/>
                    <a:pt x="0" y="821182"/>
                    <a:pt x="0" y="528955"/>
                  </a:cubicBezTo>
                  <a:close/>
                </a:path>
              </a:pathLst>
            </a:custGeom>
            <a:solidFill>
              <a:srgbClr val="F7C948"/>
            </a:solidFill>
            <a:ln w="25400" cap="sq">
              <a:solidFill>
                <a:srgbClr val="F7C948"/>
              </a:solidFill>
              <a:prstDash val="solid"/>
              <a:miter/>
            </a:ln>
          </p:spPr>
        </p:sp>
      </p:grpSp>
      <p:grpSp>
        <p:nvGrpSpPr>
          <p:cNvPr name="Group 49" id="49"/>
          <p:cNvGrpSpPr/>
          <p:nvPr/>
        </p:nvGrpSpPr>
        <p:grpSpPr>
          <a:xfrm rot="0">
            <a:off x="13999464" y="6958584"/>
            <a:ext cx="384048" cy="384048"/>
            <a:chOff x="0" y="0"/>
            <a:chExt cx="512064" cy="512064"/>
          </a:xfrm>
        </p:grpSpPr>
        <p:sp>
          <p:nvSpPr>
            <p:cNvPr name="Freeform 50" id="50" descr="preencoded.png"/>
            <p:cNvSpPr/>
            <p:nvPr/>
          </p:nvSpPr>
          <p:spPr>
            <a:xfrm flipH="false" flipV="false" rot="0">
              <a:off x="0" y="0"/>
              <a:ext cx="512064" cy="512064"/>
            </a:xfrm>
            <a:custGeom>
              <a:avLst/>
              <a:gdLst/>
              <a:ahLst/>
              <a:cxnLst/>
              <a:rect r="r" b="b" t="t" l="l"/>
              <a:pathLst>
                <a:path h="512064" w="512064">
                  <a:moveTo>
                    <a:pt x="0" y="0"/>
                  </a:moveTo>
                  <a:lnTo>
                    <a:pt x="512064" y="0"/>
                  </a:lnTo>
                  <a:lnTo>
                    <a:pt x="512064" y="512064"/>
                  </a:lnTo>
                  <a:lnTo>
                    <a:pt x="0" y="5120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13807440" y="7644384"/>
            <a:ext cx="3383280" cy="585216"/>
            <a:chOff x="0" y="0"/>
            <a:chExt cx="4511040" cy="780288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4511040" cy="780288"/>
            </a:xfrm>
            <a:custGeom>
              <a:avLst/>
              <a:gdLst/>
              <a:ahLst/>
              <a:cxnLst/>
              <a:rect r="r" b="b" t="t" l="l"/>
              <a:pathLst>
                <a:path h="780288" w="4511040">
                  <a:moveTo>
                    <a:pt x="0" y="0"/>
                  </a:moveTo>
                  <a:lnTo>
                    <a:pt x="4511040" y="0"/>
                  </a:lnTo>
                  <a:lnTo>
                    <a:pt x="451104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647" r="0" b="-62647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19050"/>
              <a:ext cx="4511040" cy="7993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1F2A1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Repeats cost nothing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3807440" y="8229600"/>
            <a:ext cx="3383280" cy="822960"/>
            <a:chOff x="0" y="0"/>
            <a:chExt cx="4511040" cy="109728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45110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4511040">
                  <a:moveTo>
                    <a:pt x="0" y="0"/>
                  </a:moveTo>
                  <a:lnTo>
                    <a:pt x="4511040" y="0"/>
                  </a:lnTo>
                  <a:lnTo>
                    <a:pt x="45110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105" r="0" b="-30105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47625"/>
              <a:ext cx="451104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5B6B5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Three cache tiers; cached threats still block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1887200" y="9601200"/>
            <a:ext cx="5486400" cy="457200"/>
            <a:chOff x="0" y="0"/>
            <a:chExt cx="7315200" cy="60960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7315200" cy="609600"/>
            </a:xfrm>
            <a:custGeom>
              <a:avLst/>
              <a:gdLst/>
              <a:ahLst/>
              <a:cxnLst/>
              <a:rect r="r" b="b" t="t" l="l"/>
              <a:pathLst>
                <a:path h="60960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38100"/>
              <a:ext cx="73152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8A958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Phisang · HackNusa 2026   4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695937" y="1688123"/>
            <a:ext cx="5997932" cy="4303944"/>
          </a:xfrm>
          <a:custGeom>
            <a:avLst/>
            <a:gdLst/>
            <a:ahLst/>
            <a:cxnLst/>
            <a:rect r="r" b="b" t="t" l="l"/>
            <a:pathLst>
              <a:path h="4303944" w="5997932">
                <a:moveTo>
                  <a:pt x="0" y="0"/>
                </a:moveTo>
                <a:lnTo>
                  <a:pt x="5997932" y="0"/>
                </a:lnTo>
                <a:lnTo>
                  <a:pt x="5997932" y="4303944"/>
                </a:lnTo>
                <a:lnTo>
                  <a:pt x="0" y="43039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41524" y="1688123"/>
            <a:ext cx="7610349" cy="5489807"/>
          </a:xfrm>
          <a:custGeom>
            <a:avLst/>
            <a:gdLst/>
            <a:ahLst/>
            <a:cxnLst/>
            <a:rect r="r" b="b" t="t" l="l"/>
            <a:pathLst>
              <a:path h="5489807" w="7610349">
                <a:moveTo>
                  <a:pt x="0" y="0"/>
                </a:moveTo>
                <a:lnTo>
                  <a:pt x="7610349" y="0"/>
                </a:lnTo>
                <a:lnTo>
                  <a:pt x="7610349" y="5489807"/>
                </a:lnTo>
                <a:lnTo>
                  <a:pt x="0" y="54898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1905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41524" y="8334519"/>
            <a:ext cx="7610349" cy="1266090"/>
          </a:xfrm>
          <a:custGeom>
            <a:avLst/>
            <a:gdLst/>
            <a:ahLst/>
            <a:cxnLst/>
            <a:rect r="r" b="b" t="t" l="l"/>
            <a:pathLst>
              <a:path h="1266090" w="7610349">
                <a:moveTo>
                  <a:pt x="0" y="0"/>
                </a:moveTo>
                <a:lnTo>
                  <a:pt x="7610349" y="0"/>
                </a:lnTo>
                <a:lnTo>
                  <a:pt x="7610349" y="1266091"/>
                </a:lnTo>
                <a:lnTo>
                  <a:pt x="0" y="12660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37064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695937" y="6877812"/>
            <a:ext cx="7251533" cy="2722798"/>
          </a:xfrm>
          <a:custGeom>
            <a:avLst/>
            <a:gdLst/>
            <a:ahLst/>
            <a:cxnLst/>
            <a:rect r="r" b="b" t="t" l="l"/>
            <a:pathLst>
              <a:path h="2722798" w="7251533">
                <a:moveTo>
                  <a:pt x="0" y="0"/>
                </a:moveTo>
                <a:lnTo>
                  <a:pt x="7251534" y="0"/>
                </a:lnTo>
                <a:lnTo>
                  <a:pt x="7251534" y="2722798"/>
                </a:lnTo>
                <a:lnTo>
                  <a:pt x="0" y="272279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9716491" y="971550"/>
            <a:ext cx="3605212" cy="4233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8"/>
              </a:lnSpc>
            </a:pPr>
            <a:r>
              <a:rPr lang="en-US" sz="2456" i="true">
                <a:solidFill>
                  <a:srgbClr val="5B6B57"/>
                </a:solidFill>
                <a:latin typeface="Arimo Italics"/>
                <a:ea typeface="Arimo Italics"/>
                <a:cs typeface="Arimo Italics"/>
                <a:sym typeface="Arimo Italics"/>
                <a:hlinkClick r:id="rId6" tooltip="https://www.virustotal.com/gui/url/c9134698b0a6b6ec48b3fea163c0fff5b5761bb6fb39b7117eceb07434b13e15/gti-summary"/>
              </a:rPr>
              <a:t>https://www.virustotal.com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41524" y="971550"/>
            <a:ext cx="5062776" cy="4233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8"/>
              </a:lnSpc>
            </a:pPr>
            <a:r>
              <a:rPr lang="en-US" sz="2456" i="true">
                <a:solidFill>
                  <a:srgbClr val="D9731A"/>
                </a:solidFill>
                <a:latin typeface="Arimo Italics"/>
                <a:ea typeface="Arimo Italics"/>
                <a:cs typeface="Arimo Italics"/>
                <a:sym typeface="Arimo Italics"/>
              </a:rPr>
              <a:t>https://phisang.kennethsunjaya.com/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7762961"/>
            <a:ext cx="3054191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56"/>
              </a:lnSpc>
              <a:spcBef>
                <a:spcPct val="0"/>
              </a:spcBef>
            </a:pPr>
            <a:r>
              <a:rPr lang="en-US" sz="3047">
                <a:solidFill>
                  <a:srgbClr val="5B6B57"/>
                </a:solidFill>
                <a:latin typeface="Arimo"/>
                <a:ea typeface="Arimo"/>
                <a:cs typeface="Arimo"/>
                <a:sym typeface="Arimo"/>
              </a:rPr>
              <a:t>Phishtank Record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695937" y="6230192"/>
            <a:ext cx="4189333" cy="4233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8"/>
              </a:lnSpc>
            </a:pPr>
            <a:r>
              <a:rPr lang="en-US" sz="2456" i="true">
                <a:solidFill>
                  <a:srgbClr val="5B6B57"/>
                </a:solidFill>
                <a:latin typeface="Arimo Italics"/>
                <a:ea typeface="Arimo Italics"/>
                <a:cs typeface="Arimo Italics"/>
                <a:sym typeface="Arimo Italics"/>
              </a:rPr>
              <a:t>https://opentip.kaspersky.com/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85216"/>
            <a:ext cx="16459200" cy="1097280"/>
            <a:chOff x="0" y="0"/>
            <a:chExt cx="2194560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194560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20"/>
                </a:lnSpc>
              </a:pPr>
              <a:r>
                <a:rPr lang="en-US" sz="5600" b="true">
                  <a:solidFill>
                    <a:srgbClr val="1F2A1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Proof of concept: running, not described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1645920"/>
            <a:ext cx="16459200" cy="640080"/>
            <a:chOff x="0" y="0"/>
            <a:chExt cx="21945600" cy="8534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853440"/>
            </a:xfrm>
            <a:custGeom>
              <a:avLst/>
              <a:gdLst/>
              <a:ahLst/>
              <a:cxnLst/>
              <a:rect r="r" b="b" t="t" l="l"/>
              <a:pathLst>
                <a:path h="8534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1043" r="0" b="-451043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21945600" cy="9201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5B6B5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 public API serving a live SQL Server archive; the extension runs unpacked against it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01703" y="2547623"/>
            <a:ext cx="3865883" cy="2311403"/>
            <a:chOff x="0" y="0"/>
            <a:chExt cx="5154511" cy="308187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154549" cy="3081909"/>
            </a:xfrm>
            <a:custGeom>
              <a:avLst/>
              <a:gdLst/>
              <a:ahLst/>
              <a:cxnLst/>
              <a:rect r="r" b="b" t="t" l="l"/>
              <a:pathLst>
                <a:path h="3081909" w="5154549">
                  <a:moveTo>
                    <a:pt x="0" y="295910"/>
                  </a:moveTo>
                  <a:cubicBezTo>
                    <a:pt x="0" y="132461"/>
                    <a:pt x="132461" y="0"/>
                    <a:pt x="295910" y="0"/>
                  </a:cubicBezTo>
                  <a:lnTo>
                    <a:pt x="4858639" y="0"/>
                  </a:lnTo>
                  <a:cubicBezTo>
                    <a:pt x="5022088" y="0"/>
                    <a:pt x="5154549" y="132461"/>
                    <a:pt x="5154549" y="295910"/>
                  </a:cubicBezTo>
                  <a:lnTo>
                    <a:pt x="5154549" y="2785999"/>
                  </a:lnTo>
                  <a:cubicBezTo>
                    <a:pt x="5154549" y="2949448"/>
                    <a:pt x="5022088" y="3081909"/>
                    <a:pt x="4858639" y="3081909"/>
                  </a:cubicBezTo>
                  <a:lnTo>
                    <a:pt x="295910" y="3081909"/>
                  </a:lnTo>
                  <a:cubicBezTo>
                    <a:pt x="132461" y="3081909"/>
                    <a:pt x="0" y="2949448"/>
                    <a:pt x="0" y="2785999"/>
                  </a:cubicBezTo>
                  <a:close/>
                </a:path>
              </a:pathLst>
            </a:custGeom>
            <a:solidFill>
              <a:srgbClr val="F3F5EF"/>
            </a:solidFill>
            <a:ln w="25400" cap="sq">
              <a:solidFill>
                <a:srgbClr val="F3F5EF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188720" y="2743200"/>
            <a:ext cx="3383280" cy="1097280"/>
            <a:chOff x="0" y="0"/>
            <a:chExt cx="4511040" cy="14630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511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4511040">
                  <a:moveTo>
                    <a:pt x="0" y="0"/>
                  </a:moveTo>
                  <a:lnTo>
                    <a:pt x="4511040" y="0"/>
                  </a:lnTo>
                  <a:lnTo>
                    <a:pt x="45110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078" r="0" b="-10078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451104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20"/>
                </a:lnSpc>
              </a:pPr>
              <a:r>
                <a:rPr lang="en-US" sz="5600" b="true">
                  <a:solidFill>
                    <a:srgbClr val="46723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343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188720" y="3840480"/>
            <a:ext cx="3383280" cy="877824"/>
            <a:chOff x="0" y="0"/>
            <a:chExt cx="4511040" cy="117043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511040" cy="1170432"/>
            </a:xfrm>
            <a:custGeom>
              <a:avLst/>
              <a:gdLst/>
              <a:ahLst/>
              <a:cxnLst/>
              <a:rect r="r" b="b" t="t" l="l"/>
              <a:pathLst>
                <a:path h="1170432" w="4511040">
                  <a:moveTo>
                    <a:pt x="0" y="0"/>
                  </a:moveTo>
                  <a:lnTo>
                    <a:pt x="4511040" y="0"/>
                  </a:lnTo>
                  <a:lnTo>
                    <a:pt x="451104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098" r="0" b="-25098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4511040" cy="12180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5B6B5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scans in the live archive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5107943" y="2547623"/>
            <a:ext cx="3865883" cy="2311403"/>
            <a:chOff x="0" y="0"/>
            <a:chExt cx="5154511" cy="308187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154549" cy="3081909"/>
            </a:xfrm>
            <a:custGeom>
              <a:avLst/>
              <a:gdLst/>
              <a:ahLst/>
              <a:cxnLst/>
              <a:rect r="r" b="b" t="t" l="l"/>
              <a:pathLst>
                <a:path h="3081909" w="5154549">
                  <a:moveTo>
                    <a:pt x="0" y="295910"/>
                  </a:moveTo>
                  <a:cubicBezTo>
                    <a:pt x="0" y="132461"/>
                    <a:pt x="132461" y="0"/>
                    <a:pt x="295910" y="0"/>
                  </a:cubicBezTo>
                  <a:lnTo>
                    <a:pt x="4858639" y="0"/>
                  </a:lnTo>
                  <a:cubicBezTo>
                    <a:pt x="5022088" y="0"/>
                    <a:pt x="5154549" y="132461"/>
                    <a:pt x="5154549" y="295910"/>
                  </a:cubicBezTo>
                  <a:lnTo>
                    <a:pt x="5154549" y="2785999"/>
                  </a:lnTo>
                  <a:cubicBezTo>
                    <a:pt x="5154549" y="2949448"/>
                    <a:pt x="5022088" y="3081909"/>
                    <a:pt x="4858639" y="3081909"/>
                  </a:cubicBezTo>
                  <a:lnTo>
                    <a:pt x="295910" y="3081909"/>
                  </a:lnTo>
                  <a:cubicBezTo>
                    <a:pt x="132461" y="3081909"/>
                    <a:pt x="0" y="2949448"/>
                    <a:pt x="0" y="2785999"/>
                  </a:cubicBezTo>
                  <a:close/>
                </a:path>
              </a:pathLst>
            </a:custGeom>
            <a:solidFill>
              <a:srgbClr val="F3F5EF"/>
            </a:solidFill>
            <a:ln w="25400" cap="sq">
              <a:solidFill>
                <a:srgbClr val="F3F5EF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5394960" y="2743200"/>
            <a:ext cx="3383280" cy="1097280"/>
            <a:chOff x="0" y="0"/>
            <a:chExt cx="4511040" cy="14630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511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4511040">
                  <a:moveTo>
                    <a:pt x="0" y="0"/>
                  </a:moveTo>
                  <a:lnTo>
                    <a:pt x="4511040" y="0"/>
                  </a:lnTo>
                  <a:lnTo>
                    <a:pt x="45110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078" r="0" b="-10078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451104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20"/>
                </a:lnSpc>
              </a:pPr>
              <a:r>
                <a:rPr lang="en-US" sz="5600" b="true">
                  <a:solidFill>
                    <a:srgbClr val="46723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205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5394960" y="3840480"/>
            <a:ext cx="3383280" cy="877824"/>
            <a:chOff x="0" y="0"/>
            <a:chExt cx="4511040" cy="117043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511040" cy="1170432"/>
            </a:xfrm>
            <a:custGeom>
              <a:avLst/>
              <a:gdLst/>
              <a:ahLst/>
              <a:cxnLst/>
              <a:rect r="r" b="b" t="t" l="l"/>
              <a:pathLst>
                <a:path h="1170432" w="4511040">
                  <a:moveTo>
                    <a:pt x="0" y="0"/>
                  </a:moveTo>
                  <a:lnTo>
                    <a:pt x="4511040" y="0"/>
                  </a:lnTo>
                  <a:lnTo>
                    <a:pt x="451104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098" r="0" b="-25098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4511040" cy="12180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5B6B5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distinct addresses checked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314183" y="2547623"/>
            <a:ext cx="3865883" cy="2311403"/>
            <a:chOff x="0" y="0"/>
            <a:chExt cx="5154511" cy="308187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154549" cy="3081909"/>
            </a:xfrm>
            <a:custGeom>
              <a:avLst/>
              <a:gdLst/>
              <a:ahLst/>
              <a:cxnLst/>
              <a:rect r="r" b="b" t="t" l="l"/>
              <a:pathLst>
                <a:path h="3081909" w="5154549">
                  <a:moveTo>
                    <a:pt x="0" y="295910"/>
                  </a:moveTo>
                  <a:cubicBezTo>
                    <a:pt x="0" y="132461"/>
                    <a:pt x="132461" y="0"/>
                    <a:pt x="295910" y="0"/>
                  </a:cubicBezTo>
                  <a:lnTo>
                    <a:pt x="4858639" y="0"/>
                  </a:lnTo>
                  <a:cubicBezTo>
                    <a:pt x="5022088" y="0"/>
                    <a:pt x="5154549" y="132461"/>
                    <a:pt x="5154549" y="295910"/>
                  </a:cubicBezTo>
                  <a:lnTo>
                    <a:pt x="5154549" y="2785999"/>
                  </a:lnTo>
                  <a:cubicBezTo>
                    <a:pt x="5154549" y="2949448"/>
                    <a:pt x="5022088" y="3081909"/>
                    <a:pt x="4858639" y="3081909"/>
                  </a:cubicBezTo>
                  <a:lnTo>
                    <a:pt x="295910" y="3081909"/>
                  </a:lnTo>
                  <a:cubicBezTo>
                    <a:pt x="132461" y="3081909"/>
                    <a:pt x="0" y="2949448"/>
                    <a:pt x="0" y="2785999"/>
                  </a:cubicBezTo>
                  <a:close/>
                </a:path>
              </a:pathLst>
            </a:custGeom>
            <a:solidFill>
              <a:srgbClr val="F3F5EF"/>
            </a:solidFill>
            <a:ln w="25400" cap="sq">
              <a:solidFill>
                <a:srgbClr val="F3F5EF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9601200" y="2743200"/>
            <a:ext cx="3383280" cy="1097280"/>
            <a:chOff x="0" y="0"/>
            <a:chExt cx="4511040" cy="14630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511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4511040">
                  <a:moveTo>
                    <a:pt x="0" y="0"/>
                  </a:moveTo>
                  <a:lnTo>
                    <a:pt x="4511040" y="0"/>
                  </a:lnTo>
                  <a:lnTo>
                    <a:pt x="45110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078" r="0" b="-10078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451104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20"/>
                </a:lnSpc>
              </a:pPr>
              <a:r>
                <a:rPr lang="en-US" sz="5600" b="true">
                  <a:solidFill>
                    <a:srgbClr val="46723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227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601200" y="3840480"/>
            <a:ext cx="3383280" cy="877824"/>
            <a:chOff x="0" y="0"/>
            <a:chExt cx="4511040" cy="117043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511040" cy="1170432"/>
            </a:xfrm>
            <a:custGeom>
              <a:avLst/>
              <a:gdLst/>
              <a:ahLst/>
              <a:cxnLst/>
              <a:rect r="r" b="b" t="t" l="l"/>
              <a:pathLst>
                <a:path h="1170432" w="4511040">
                  <a:moveTo>
                    <a:pt x="0" y="0"/>
                  </a:moveTo>
                  <a:lnTo>
                    <a:pt x="4511040" y="0"/>
                  </a:lnTo>
                  <a:lnTo>
                    <a:pt x="451104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098" r="0" b="-25098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4511040" cy="12180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5B6B5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automated tests (193 backend, 32 worker, 2 browser)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3520423" y="2547623"/>
            <a:ext cx="3865883" cy="2311403"/>
            <a:chOff x="0" y="0"/>
            <a:chExt cx="5154511" cy="308187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154549" cy="3081909"/>
            </a:xfrm>
            <a:custGeom>
              <a:avLst/>
              <a:gdLst/>
              <a:ahLst/>
              <a:cxnLst/>
              <a:rect r="r" b="b" t="t" l="l"/>
              <a:pathLst>
                <a:path h="3081909" w="5154549">
                  <a:moveTo>
                    <a:pt x="0" y="295910"/>
                  </a:moveTo>
                  <a:cubicBezTo>
                    <a:pt x="0" y="132461"/>
                    <a:pt x="132461" y="0"/>
                    <a:pt x="295910" y="0"/>
                  </a:cubicBezTo>
                  <a:lnTo>
                    <a:pt x="4858639" y="0"/>
                  </a:lnTo>
                  <a:cubicBezTo>
                    <a:pt x="5022088" y="0"/>
                    <a:pt x="5154549" y="132461"/>
                    <a:pt x="5154549" y="295910"/>
                  </a:cubicBezTo>
                  <a:lnTo>
                    <a:pt x="5154549" y="2785999"/>
                  </a:lnTo>
                  <a:cubicBezTo>
                    <a:pt x="5154549" y="2949448"/>
                    <a:pt x="5022088" y="3081909"/>
                    <a:pt x="4858639" y="3081909"/>
                  </a:cubicBezTo>
                  <a:lnTo>
                    <a:pt x="295910" y="3081909"/>
                  </a:lnTo>
                  <a:cubicBezTo>
                    <a:pt x="132461" y="3081909"/>
                    <a:pt x="0" y="2949448"/>
                    <a:pt x="0" y="2785999"/>
                  </a:cubicBezTo>
                  <a:close/>
                </a:path>
              </a:pathLst>
            </a:custGeom>
            <a:solidFill>
              <a:srgbClr val="F3F5EF"/>
            </a:solidFill>
            <a:ln w="25400" cap="sq">
              <a:solidFill>
                <a:srgbClr val="F3F5EF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13807440" y="2743200"/>
            <a:ext cx="3383280" cy="1097280"/>
            <a:chOff x="0" y="0"/>
            <a:chExt cx="4511040" cy="146304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511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4511040">
                  <a:moveTo>
                    <a:pt x="0" y="0"/>
                  </a:moveTo>
                  <a:lnTo>
                    <a:pt x="4511040" y="0"/>
                  </a:lnTo>
                  <a:lnTo>
                    <a:pt x="45110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078" r="0" b="-10078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451104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20"/>
                </a:lnSpc>
              </a:pPr>
              <a:r>
                <a:rPr lang="en-US" sz="5600" b="true">
                  <a:solidFill>
                    <a:srgbClr val="46723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0.44 s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3807440" y="3840480"/>
            <a:ext cx="3383280" cy="877824"/>
            <a:chOff x="0" y="0"/>
            <a:chExt cx="4511040" cy="1170432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4511040" cy="1170432"/>
            </a:xfrm>
            <a:custGeom>
              <a:avLst/>
              <a:gdLst/>
              <a:ahLst/>
              <a:cxnLst/>
              <a:rect r="r" b="b" t="t" l="l"/>
              <a:pathLst>
                <a:path h="1170432" w="4511040">
                  <a:moveTo>
                    <a:pt x="0" y="0"/>
                  </a:moveTo>
                  <a:lnTo>
                    <a:pt x="4511040" y="0"/>
                  </a:lnTo>
                  <a:lnTo>
                    <a:pt x="451104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098" r="0" b="-25098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47625"/>
              <a:ext cx="4511040" cy="12180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5B6B5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model inference per page, CPU only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914400" y="5212080"/>
            <a:ext cx="7315200" cy="512064"/>
            <a:chOff x="0" y="0"/>
            <a:chExt cx="9753600" cy="682752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9753600" cy="682752"/>
            </a:xfrm>
            <a:custGeom>
              <a:avLst/>
              <a:gdLst/>
              <a:ahLst/>
              <a:cxnLst/>
              <a:rect r="r" b="b" t="t" l="l"/>
              <a:pathLst>
                <a:path h="682752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8357" r="0" b="-228357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9525"/>
              <a:ext cx="9753600" cy="6922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F2A1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Live demo links</a:t>
              </a:r>
            </a:p>
          </p:txBody>
        </p:sp>
      </p:grpSp>
      <p:graphicFrame>
        <p:nvGraphicFramePr>
          <p:cNvPr name="Table 43" id="43"/>
          <p:cNvGraphicFramePr>
            <a:graphicFrameLocks noGrp="true"/>
          </p:cNvGraphicFramePr>
          <p:nvPr/>
        </p:nvGraphicFramePr>
        <p:xfrm>
          <a:off x="914400" y="5815584"/>
          <a:ext cx="16433800" cy="3070860"/>
        </p:xfrm>
        <a:graphic>
          <a:graphicData uri="http://schemas.openxmlformats.org/drawingml/2006/table">
            <a:tbl>
              <a:tblPr/>
              <a:tblGrid>
                <a:gridCol w="7291318"/>
                <a:gridCol w="4933918"/>
                <a:gridCol w="4208564"/>
              </a:tblGrid>
              <a:tr h="60958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Test link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D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61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Decided at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D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61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Result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D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616"/>
                    </a:solidFill>
                  </a:tcPr>
                </a:tc>
              </a:tr>
              <a:tr h="62105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1F2A1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https://www.google.com/search?q=youtube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D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1F2A1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Lexical rules, never fetched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D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467235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benign · SAFE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D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958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1F2A1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http://77.73.133.113/lego/mine.exe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D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1F2A1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Content guard: a file, not a webpage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D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C0392B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refused · tab paused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D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05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1F2A1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https://holiganbetwebmobil.com/lux/ 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D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1F2A1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Typosquat shape, page fetched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D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D9731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malicious </a:t>
                      </a:r>
                      <a:r>
                        <a:rPr lang="en-US" sz="2100" b="true">
                          <a:solidFill>
                            <a:srgbClr val="D9731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if score ≥ 0.6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D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958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1F2A1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https://secure-login-paypal-verify.account-update.xyz/signin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D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1F2A1C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Fetch fails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D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B7950B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unavailable, never benign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DD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D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D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D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name="Group 44" id="44"/>
          <p:cNvGrpSpPr/>
          <p:nvPr/>
        </p:nvGrpSpPr>
        <p:grpSpPr>
          <a:xfrm rot="0">
            <a:off x="11887200" y="9601200"/>
            <a:ext cx="5486400" cy="457200"/>
            <a:chOff x="0" y="0"/>
            <a:chExt cx="7315200" cy="6096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7315200" cy="609600"/>
            </a:xfrm>
            <a:custGeom>
              <a:avLst/>
              <a:gdLst/>
              <a:ahLst/>
              <a:cxnLst/>
              <a:rect r="r" b="b" t="t" l="l"/>
              <a:pathLst>
                <a:path h="60960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73152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8A958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Phisang · HackNusa 2026   5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887200" y="9601200"/>
            <a:ext cx="5486400" cy="457200"/>
            <a:chOff x="0" y="0"/>
            <a:chExt cx="7315200" cy="609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315200" cy="609600"/>
            </a:xfrm>
            <a:custGeom>
              <a:avLst/>
              <a:gdLst/>
              <a:ahLst/>
              <a:cxnLst/>
              <a:rect r="r" b="b" t="t" l="l"/>
              <a:pathLst>
                <a:path h="60960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3152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8A958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Phisang · HackNusa 2026   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85216"/>
            <a:ext cx="16459200" cy="1097280"/>
            <a:chOff x="0" y="0"/>
            <a:chExt cx="2194560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194560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20"/>
                </a:lnSpc>
              </a:pPr>
              <a:r>
                <a:rPr lang="en-US" sz="5600" b="true">
                  <a:solidFill>
                    <a:srgbClr val="1F2A1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Core features in action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1645920"/>
            <a:ext cx="16459200" cy="640080"/>
            <a:chOff x="0" y="0"/>
            <a:chExt cx="21945600" cy="8534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853440"/>
            </a:xfrm>
            <a:custGeom>
              <a:avLst/>
              <a:gdLst/>
              <a:ahLst/>
              <a:cxnLst/>
              <a:rect r="r" b="b" t="t" l="l"/>
              <a:pathLst>
                <a:path h="8534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1043" r="0" b="-451043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21945600" cy="9201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5B6B5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The tab is held before the site is contacted, not after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01703" y="2639063"/>
            <a:ext cx="848363" cy="848363"/>
            <a:chOff x="0" y="0"/>
            <a:chExt cx="1131151" cy="113115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31189" cy="1131189"/>
            </a:xfrm>
            <a:custGeom>
              <a:avLst/>
              <a:gdLst/>
              <a:ahLst/>
              <a:cxnLst/>
              <a:rect r="r" b="b" t="t" l="l"/>
              <a:pathLst>
                <a:path h="1131189" w="1131189">
                  <a:moveTo>
                    <a:pt x="0" y="565531"/>
                  </a:moveTo>
                  <a:cubicBezTo>
                    <a:pt x="0" y="253238"/>
                    <a:pt x="253238" y="0"/>
                    <a:pt x="565531" y="0"/>
                  </a:cubicBezTo>
                  <a:cubicBezTo>
                    <a:pt x="877824" y="0"/>
                    <a:pt x="1131189" y="253238"/>
                    <a:pt x="1131189" y="565531"/>
                  </a:cubicBezTo>
                  <a:cubicBezTo>
                    <a:pt x="1131189" y="877824"/>
                    <a:pt x="877951" y="1131189"/>
                    <a:pt x="565531" y="1131189"/>
                  </a:cubicBezTo>
                  <a:cubicBezTo>
                    <a:pt x="253111" y="1131189"/>
                    <a:pt x="0" y="877951"/>
                    <a:pt x="0" y="565531"/>
                  </a:cubicBezTo>
                  <a:close/>
                </a:path>
              </a:pathLst>
            </a:custGeom>
            <a:solidFill>
              <a:srgbClr val="F7C948"/>
            </a:solidFill>
            <a:ln w="25400" cap="sq">
              <a:solidFill>
                <a:srgbClr val="F7C948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914400" y="2651760"/>
            <a:ext cx="822960" cy="822960"/>
            <a:chOff x="0" y="0"/>
            <a:chExt cx="1097280" cy="10972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109728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1B261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2011680" y="2596896"/>
            <a:ext cx="4389120" cy="512064"/>
            <a:chOff x="0" y="0"/>
            <a:chExt cx="5852160" cy="68275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852160" cy="682752"/>
            </a:xfrm>
            <a:custGeom>
              <a:avLst/>
              <a:gdLst/>
              <a:ahLst/>
              <a:cxnLst/>
              <a:rect r="r" b="b" t="t" l="l"/>
              <a:pathLst>
                <a:path h="682752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7014" r="0" b="-117014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5852160" cy="7018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F2A1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You click a link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2011680" y="3090672"/>
            <a:ext cx="4572000" cy="457200"/>
            <a:chOff x="0" y="0"/>
            <a:chExt cx="6096000" cy="6096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0960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6096000" cy="657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5B6B5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Any http(s) navigation</a:t>
              </a:r>
            </a:p>
          </p:txBody>
        </p:sp>
      </p:grpSp>
      <p:sp>
        <p:nvSpPr>
          <p:cNvPr name="AutoShape 19" id="19"/>
          <p:cNvSpPr/>
          <p:nvPr/>
        </p:nvSpPr>
        <p:spPr>
          <a:xfrm rot="5177100">
            <a:off x="1031891" y="3830955"/>
            <a:ext cx="587978" cy="0"/>
          </a:xfrm>
          <a:prstGeom prst="line">
            <a:avLst/>
          </a:prstGeom>
          <a:ln cap="rnd" w="19050">
            <a:solidFill>
              <a:srgbClr val="C9D1C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0" id="20"/>
          <p:cNvGrpSpPr/>
          <p:nvPr/>
        </p:nvGrpSpPr>
        <p:grpSpPr>
          <a:xfrm rot="0">
            <a:off x="901703" y="4193543"/>
            <a:ext cx="848363" cy="848363"/>
            <a:chOff x="0" y="0"/>
            <a:chExt cx="1131151" cy="113115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131189" cy="1131189"/>
            </a:xfrm>
            <a:custGeom>
              <a:avLst/>
              <a:gdLst/>
              <a:ahLst/>
              <a:cxnLst/>
              <a:rect r="r" b="b" t="t" l="l"/>
              <a:pathLst>
                <a:path h="1131189" w="1131189">
                  <a:moveTo>
                    <a:pt x="0" y="565531"/>
                  </a:moveTo>
                  <a:cubicBezTo>
                    <a:pt x="0" y="253238"/>
                    <a:pt x="253238" y="0"/>
                    <a:pt x="565531" y="0"/>
                  </a:cubicBezTo>
                  <a:cubicBezTo>
                    <a:pt x="877824" y="0"/>
                    <a:pt x="1131189" y="253238"/>
                    <a:pt x="1131189" y="565531"/>
                  </a:cubicBezTo>
                  <a:cubicBezTo>
                    <a:pt x="1131189" y="877824"/>
                    <a:pt x="877951" y="1131189"/>
                    <a:pt x="565531" y="1131189"/>
                  </a:cubicBezTo>
                  <a:cubicBezTo>
                    <a:pt x="253111" y="1131189"/>
                    <a:pt x="0" y="877951"/>
                    <a:pt x="0" y="565531"/>
                  </a:cubicBezTo>
                  <a:close/>
                </a:path>
              </a:pathLst>
            </a:custGeom>
            <a:solidFill>
              <a:srgbClr val="F7C948"/>
            </a:solidFill>
            <a:ln w="25400" cap="sq">
              <a:solidFill>
                <a:srgbClr val="F7C948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914400" y="4206240"/>
            <a:ext cx="822960" cy="822960"/>
            <a:chOff x="0" y="0"/>
            <a:chExt cx="1097280" cy="109728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9050"/>
              <a:ext cx="109728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1B261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2011680" y="4151376"/>
            <a:ext cx="4389120" cy="512064"/>
            <a:chOff x="0" y="0"/>
            <a:chExt cx="5852160" cy="68275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852160" cy="682752"/>
            </a:xfrm>
            <a:custGeom>
              <a:avLst/>
              <a:gdLst/>
              <a:ahLst/>
              <a:cxnLst/>
              <a:rect r="r" b="b" t="t" l="l"/>
              <a:pathLst>
                <a:path h="682752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7014" r="0" b="-117014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19050"/>
              <a:ext cx="5852160" cy="7018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F2A1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Tab is held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2011680" y="4645152"/>
            <a:ext cx="4572000" cy="457200"/>
            <a:chOff x="0" y="0"/>
            <a:chExt cx="6096000" cy="6096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0960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6096000" cy="657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5B6B5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Before the site is contacted</a:t>
              </a:r>
            </a:p>
          </p:txBody>
        </p:sp>
      </p:grpSp>
      <p:sp>
        <p:nvSpPr>
          <p:cNvPr name="AutoShape 31" id="31"/>
          <p:cNvSpPr/>
          <p:nvPr/>
        </p:nvSpPr>
        <p:spPr>
          <a:xfrm rot="5177100">
            <a:off x="1031891" y="5385435"/>
            <a:ext cx="587978" cy="0"/>
          </a:xfrm>
          <a:prstGeom prst="line">
            <a:avLst/>
          </a:prstGeom>
          <a:ln cap="rnd" w="19050">
            <a:solidFill>
              <a:srgbClr val="C9D1C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2" id="32"/>
          <p:cNvGrpSpPr/>
          <p:nvPr/>
        </p:nvGrpSpPr>
        <p:grpSpPr>
          <a:xfrm rot="0">
            <a:off x="901703" y="5748023"/>
            <a:ext cx="848363" cy="848363"/>
            <a:chOff x="0" y="0"/>
            <a:chExt cx="1131151" cy="113115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131189" cy="1131189"/>
            </a:xfrm>
            <a:custGeom>
              <a:avLst/>
              <a:gdLst/>
              <a:ahLst/>
              <a:cxnLst/>
              <a:rect r="r" b="b" t="t" l="l"/>
              <a:pathLst>
                <a:path h="1131189" w="1131189">
                  <a:moveTo>
                    <a:pt x="0" y="565531"/>
                  </a:moveTo>
                  <a:cubicBezTo>
                    <a:pt x="0" y="253238"/>
                    <a:pt x="253238" y="0"/>
                    <a:pt x="565531" y="0"/>
                  </a:cubicBezTo>
                  <a:cubicBezTo>
                    <a:pt x="877824" y="0"/>
                    <a:pt x="1131189" y="253238"/>
                    <a:pt x="1131189" y="565531"/>
                  </a:cubicBezTo>
                  <a:cubicBezTo>
                    <a:pt x="1131189" y="877824"/>
                    <a:pt x="877951" y="1131189"/>
                    <a:pt x="565531" y="1131189"/>
                  </a:cubicBezTo>
                  <a:cubicBezTo>
                    <a:pt x="253111" y="1131189"/>
                    <a:pt x="0" y="877951"/>
                    <a:pt x="0" y="565531"/>
                  </a:cubicBezTo>
                  <a:close/>
                </a:path>
              </a:pathLst>
            </a:custGeom>
            <a:solidFill>
              <a:srgbClr val="F7C948"/>
            </a:solidFill>
            <a:ln w="25400" cap="sq">
              <a:solidFill>
                <a:srgbClr val="F7C948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914400" y="5760720"/>
            <a:ext cx="822960" cy="822960"/>
            <a:chOff x="0" y="0"/>
            <a:chExt cx="1097280" cy="109728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19050"/>
              <a:ext cx="109728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1B261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3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2011680" y="5705856"/>
            <a:ext cx="4389120" cy="512064"/>
            <a:chOff x="0" y="0"/>
            <a:chExt cx="5852160" cy="682752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852160" cy="682752"/>
            </a:xfrm>
            <a:custGeom>
              <a:avLst/>
              <a:gdLst/>
              <a:ahLst/>
              <a:cxnLst/>
              <a:rect r="r" b="b" t="t" l="l"/>
              <a:pathLst>
                <a:path h="682752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7014" r="0" b="-117014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19050"/>
              <a:ext cx="5852160" cy="7018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F2A1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Phisang checks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2011680" y="6199632"/>
            <a:ext cx="4572000" cy="457200"/>
            <a:chOff x="0" y="0"/>
            <a:chExt cx="6096000" cy="6096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60960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47625"/>
              <a:ext cx="6096000" cy="657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5B6B5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Local cache, then API with live progress</a:t>
              </a:r>
            </a:p>
          </p:txBody>
        </p:sp>
      </p:grpSp>
      <p:sp>
        <p:nvSpPr>
          <p:cNvPr name="AutoShape 43" id="43"/>
          <p:cNvSpPr/>
          <p:nvPr/>
        </p:nvSpPr>
        <p:spPr>
          <a:xfrm rot="5177100">
            <a:off x="1031891" y="6939915"/>
            <a:ext cx="587978" cy="0"/>
          </a:xfrm>
          <a:prstGeom prst="line">
            <a:avLst/>
          </a:prstGeom>
          <a:ln cap="rnd" w="19050">
            <a:solidFill>
              <a:srgbClr val="C9D1C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4" id="44"/>
          <p:cNvGrpSpPr/>
          <p:nvPr/>
        </p:nvGrpSpPr>
        <p:grpSpPr>
          <a:xfrm rot="0">
            <a:off x="901703" y="7302503"/>
            <a:ext cx="848363" cy="848363"/>
            <a:chOff x="0" y="0"/>
            <a:chExt cx="1131151" cy="1131151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131189" cy="1131189"/>
            </a:xfrm>
            <a:custGeom>
              <a:avLst/>
              <a:gdLst/>
              <a:ahLst/>
              <a:cxnLst/>
              <a:rect r="r" b="b" t="t" l="l"/>
              <a:pathLst>
                <a:path h="1131189" w="1131189">
                  <a:moveTo>
                    <a:pt x="0" y="565531"/>
                  </a:moveTo>
                  <a:cubicBezTo>
                    <a:pt x="0" y="253238"/>
                    <a:pt x="253238" y="0"/>
                    <a:pt x="565531" y="0"/>
                  </a:cubicBezTo>
                  <a:cubicBezTo>
                    <a:pt x="877824" y="0"/>
                    <a:pt x="1131189" y="253238"/>
                    <a:pt x="1131189" y="565531"/>
                  </a:cubicBezTo>
                  <a:cubicBezTo>
                    <a:pt x="1131189" y="877824"/>
                    <a:pt x="877951" y="1131189"/>
                    <a:pt x="565531" y="1131189"/>
                  </a:cubicBezTo>
                  <a:cubicBezTo>
                    <a:pt x="253111" y="1131189"/>
                    <a:pt x="0" y="877951"/>
                    <a:pt x="0" y="565531"/>
                  </a:cubicBezTo>
                  <a:close/>
                </a:path>
              </a:pathLst>
            </a:custGeom>
            <a:solidFill>
              <a:srgbClr val="C0392B"/>
            </a:solidFill>
            <a:ln w="25400" cap="sq">
              <a:solidFill>
                <a:srgbClr val="C0392B"/>
              </a:solidFill>
              <a:prstDash val="solid"/>
              <a:miter/>
            </a:ln>
          </p:spPr>
        </p:sp>
      </p:grpSp>
      <p:grpSp>
        <p:nvGrpSpPr>
          <p:cNvPr name="Group 46" id="46"/>
          <p:cNvGrpSpPr/>
          <p:nvPr/>
        </p:nvGrpSpPr>
        <p:grpSpPr>
          <a:xfrm rot="0">
            <a:off x="914400" y="7315200"/>
            <a:ext cx="822960" cy="822960"/>
            <a:chOff x="0" y="0"/>
            <a:chExt cx="1097280" cy="109728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19050"/>
              <a:ext cx="109728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4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2011680" y="7260336"/>
            <a:ext cx="4389120" cy="512064"/>
            <a:chOff x="0" y="0"/>
            <a:chExt cx="5852160" cy="682752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5852160" cy="682752"/>
            </a:xfrm>
            <a:custGeom>
              <a:avLst/>
              <a:gdLst/>
              <a:ahLst/>
              <a:cxnLst/>
              <a:rect r="r" b="b" t="t" l="l"/>
              <a:pathLst>
                <a:path h="682752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7014" r="0" b="-117014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19050"/>
              <a:ext cx="5852160" cy="7018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F2A1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Warn or release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2011680" y="7754112"/>
            <a:ext cx="4572000" cy="457200"/>
            <a:chOff x="0" y="0"/>
            <a:chExt cx="6096000" cy="6096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60960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47625"/>
              <a:ext cx="6096000" cy="657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5B6B5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Go back, or Continue anyway once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6845303" y="2639063"/>
            <a:ext cx="5054603" cy="5237483"/>
            <a:chOff x="0" y="0"/>
            <a:chExt cx="6739471" cy="6983311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6739509" cy="6983349"/>
            </a:xfrm>
            <a:custGeom>
              <a:avLst/>
              <a:gdLst/>
              <a:ahLst/>
              <a:cxnLst/>
              <a:rect r="r" b="b" t="t" l="l"/>
              <a:pathLst>
                <a:path h="6983349" w="6739509">
                  <a:moveTo>
                    <a:pt x="0" y="294132"/>
                  </a:moveTo>
                  <a:cubicBezTo>
                    <a:pt x="0" y="131699"/>
                    <a:pt x="131699" y="0"/>
                    <a:pt x="294132" y="0"/>
                  </a:cubicBezTo>
                  <a:lnTo>
                    <a:pt x="6445377" y="0"/>
                  </a:lnTo>
                  <a:cubicBezTo>
                    <a:pt x="6607810" y="0"/>
                    <a:pt x="6739509" y="131699"/>
                    <a:pt x="6739509" y="294132"/>
                  </a:cubicBezTo>
                  <a:lnTo>
                    <a:pt x="6739509" y="6689217"/>
                  </a:lnTo>
                  <a:cubicBezTo>
                    <a:pt x="6739509" y="6851650"/>
                    <a:pt x="6607810" y="6983349"/>
                    <a:pt x="6445377" y="6983349"/>
                  </a:cubicBezTo>
                  <a:lnTo>
                    <a:pt x="294132" y="6983349"/>
                  </a:lnTo>
                  <a:cubicBezTo>
                    <a:pt x="131699" y="6983349"/>
                    <a:pt x="0" y="6851650"/>
                    <a:pt x="0" y="6689217"/>
                  </a:cubicBezTo>
                  <a:close/>
                </a:path>
              </a:pathLst>
            </a:custGeom>
            <a:blipFill>
              <a:blip r:embed="rId4"/>
              <a:stretch>
                <a:fillRect l="0" t="-9273" r="0" b="-43007"/>
              </a:stretch>
            </a:blipFill>
            <a:ln w="25400" cap="sq">
              <a:solidFill>
                <a:srgbClr val="B8C2B2"/>
              </a:solidFill>
              <a:prstDash val="dash"/>
              <a:miter/>
            </a:ln>
          </p:spPr>
        </p:sp>
      </p:grpSp>
      <p:grpSp>
        <p:nvGrpSpPr>
          <p:cNvPr name="Group 57" id="57"/>
          <p:cNvGrpSpPr/>
          <p:nvPr/>
        </p:nvGrpSpPr>
        <p:grpSpPr>
          <a:xfrm rot="0">
            <a:off x="6858000" y="8010144"/>
            <a:ext cx="5029200" cy="548640"/>
            <a:chOff x="0" y="0"/>
            <a:chExt cx="6705600" cy="73152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6705600" cy="731520"/>
            </a:xfrm>
            <a:custGeom>
              <a:avLst/>
              <a:gdLst/>
              <a:ahLst/>
              <a:cxnLst/>
              <a:rect r="r" b="b" t="t" l="l"/>
              <a:pathLst>
                <a:path h="731520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8612" r="0" b="-128612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38100"/>
              <a:ext cx="67056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1F2A1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Warning page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2331703" y="2639063"/>
            <a:ext cx="5054603" cy="5237483"/>
            <a:chOff x="0" y="0"/>
            <a:chExt cx="6739471" cy="6983311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6739509" cy="6983349"/>
            </a:xfrm>
            <a:custGeom>
              <a:avLst/>
              <a:gdLst/>
              <a:ahLst/>
              <a:cxnLst/>
              <a:rect r="r" b="b" t="t" l="l"/>
              <a:pathLst>
                <a:path h="6983349" w="6739509">
                  <a:moveTo>
                    <a:pt x="0" y="294132"/>
                  </a:moveTo>
                  <a:cubicBezTo>
                    <a:pt x="0" y="131699"/>
                    <a:pt x="131699" y="0"/>
                    <a:pt x="294132" y="0"/>
                  </a:cubicBezTo>
                  <a:lnTo>
                    <a:pt x="6445377" y="0"/>
                  </a:lnTo>
                  <a:cubicBezTo>
                    <a:pt x="6607810" y="0"/>
                    <a:pt x="6739509" y="131699"/>
                    <a:pt x="6739509" y="294132"/>
                  </a:cubicBezTo>
                  <a:lnTo>
                    <a:pt x="6739509" y="6689217"/>
                  </a:lnTo>
                  <a:cubicBezTo>
                    <a:pt x="6739509" y="6851650"/>
                    <a:pt x="6607810" y="6983349"/>
                    <a:pt x="6445377" y="6983349"/>
                  </a:cubicBezTo>
                  <a:lnTo>
                    <a:pt x="294132" y="6983349"/>
                  </a:lnTo>
                  <a:cubicBezTo>
                    <a:pt x="131699" y="6983349"/>
                    <a:pt x="0" y="6851650"/>
                    <a:pt x="0" y="6689217"/>
                  </a:cubicBezTo>
                  <a:close/>
                </a:path>
              </a:pathLst>
            </a:custGeom>
            <a:blipFill>
              <a:blip r:embed="rId5"/>
              <a:stretch>
                <a:fillRect l="0" t="-32732" r="0" b="-177957"/>
              </a:stretch>
            </a:blipFill>
            <a:ln w="25400" cap="sq">
              <a:solidFill>
                <a:srgbClr val="B8C2B2"/>
              </a:solidFill>
              <a:prstDash val="dash"/>
              <a:miter/>
            </a:ln>
          </p:spPr>
        </p:sp>
      </p:grpSp>
      <p:grpSp>
        <p:nvGrpSpPr>
          <p:cNvPr name="Group 62" id="62"/>
          <p:cNvGrpSpPr/>
          <p:nvPr/>
        </p:nvGrpSpPr>
        <p:grpSpPr>
          <a:xfrm rot="0">
            <a:off x="12344400" y="8010144"/>
            <a:ext cx="5029200" cy="548640"/>
            <a:chOff x="0" y="0"/>
            <a:chExt cx="6705600" cy="73152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6705600" cy="731520"/>
            </a:xfrm>
            <a:custGeom>
              <a:avLst/>
              <a:gdLst/>
              <a:ahLst/>
              <a:cxnLst/>
              <a:rect r="r" b="b" t="t" l="l"/>
              <a:pathLst>
                <a:path h="731520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8612" r="0" b="-128612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67056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1F2A1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Completed web scan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6858000" y="8686800"/>
            <a:ext cx="10515600" cy="512064"/>
            <a:chOff x="0" y="0"/>
            <a:chExt cx="14020800" cy="682752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4020800" cy="682752"/>
            </a:xfrm>
            <a:custGeom>
              <a:avLst/>
              <a:gdLst/>
              <a:ahLst/>
              <a:cxnLst/>
              <a:rect r="r" b="b" t="t" l="l"/>
              <a:pathLst>
                <a:path h="682752" w="14020800">
                  <a:moveTo>
                    <a:pt x="0" y="0"/>
                  </a:moveTo>
                  <a:lnTo>
                    <a:pt x="14020800" y="0"/>
                  </a:lnTo>
                  <a:lnTo>
                    <a:pt x="140208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0139" r="0" b="-350139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47625"/>
              <a:ext cx="1402080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39"/>
                </a:lnSpc>
              </a:pPr>
              <a:r>
                <a:rPr lang="en-US" sz="2199">
                  <a:solidFill>
                    <a:srgbClr val="5B6B5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More screens and a recording: </a:t>
              </a:r>
              <a:r>
                <a:rPr lang="en-US" b="true" sz="2199" u="sng">
                  <a:solidFill>
                    <a:srgbClr val="467235"/>
                  </a:solidFill>
                  <a:latin typeface="Calibri (MS) Bold"/>
                  <a:ea typeface="Calibri (MS) Bold"/>
                  <a:cs typeface="Calibri (MS) Bold"/>
                  <a:sym typeface="Calibri (MS) Bold"/>
                  <a:hlinkClick r:id="rId6" tooltip="https://tinyurl.com/phisang-hacknusa"/>
                </a:rPr>
                <a:t>tinyurl.com/phisang-hacknusa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1887200" y="9601200"/>
            <a:ext cx="5486400" cy="457200"/>
            <a:chOff x="0" y="0"/>
            <a:chExt cx="7315200" cy="60960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7315200" cy="609600"/>
            </a:xfrm>
            <a:custGeom>
              <a:avLst/>
              <a:gdLst/>
              <a:ahLst/>
              <a:cxnLst/>
              <a:rect r="r" b="b" t="t" l="l"/>
              <a:pathLst>
                <a:path h="60960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73152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8A958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Phisang · HackNusa 2026   6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85216"/>
            <a:ext cx="16459200" cy="1097280"/>
            <a:chOff x="0" y="0"/>
            <a:chExt cx="2194560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194560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20"/>
                </a:lnSpc>
              </a:pPr>
              <a:r>
                <a:rPr lang="en-US" sz="5600" b="true">
                  <a:solidFill>
                    <a:srgbClr val="1F2A1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Technical architecture &amp; tech stack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1499616"/>
            <a:ext cx="16459200" cy="512064"/>
            <a:chOff x="0" y="0"/>
            <a:chExt cx="21945600" cy="68275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682752"/>
            </a:xfrm>
            <a:custGeom>
              <a:avLst/>
              <a:gdLst/>
              <a:ahLst/>
              <a:cxnLst/>
              <a:rect r="r" b="b" t="t" l="l"/>
              <a:pathLst>
                <a:path h="682752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6304" r="0" b="-576304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21945600" cy="739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5B6B5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Only the fourth gate opens the page, and a file link never reaches it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01703" y="2547623"/>
            <a:ext cx="3500123" cy="1122683"/>
            <a:chOff x="0" y="0"/>
            <a:chExt cx="4666831" cy="149691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666869" cy="1497076"/>
            </a:xfrm>
            <a:custGeom>
              <a:avLst/>
              <a:gdLst/>
              <a:ahLst/>
              <a:cxnLst/>
              <a:rect r="r" b="b" t="t" l="l"/>
              <a:pathLst>
                <a:path h="1497076" w="4666869">
                  <a:moveTo>
                    <a:pt x="0" y="199644"/>
                  </a:moveTo>
                  <a:cubicBezTo>
                    <a:pt x="0" y="89408"/>
                    <a:pt x="89408" y="0"/>
                    <a:pt x="199644" y="0"/>
                  </a:cubicBezTo>
                  <a:lnTo>
                    <a:pt x="4467225" y="0"/>
                  </a:lnTo>
                  <a:cubicBezTo>
                    <a:pt x="4577461" y="0"/>
                    <a:pt x="4666869" y="89408"/>
                    <a:pt x="4666869" y="199644"/>
                  </a:cubicBezTo>
                  <a:lnTo>
                    <a:pt x="4666869" y="1297432"/>
                  </a:lnTo>
                  <a:cubicBezTo>
                    <a:pt x="4666869" y="1407668"/>
                    <a:pt x="4577461" y="1497076"/>
                    <a:pt x="4467225" y="1497076"/>
                  </a:cubicBezTo>
                  <a:lnTo>
                    <a:pt x="199644" y="1497076"/>
                  </a:lnTo>
                  <a:cubicBezTo>
                    <a:pt x="89408" y="1496949"/>
                    <a:pt x="0" y="1407541"/>
                    <a:pt x="0" y="1297305"/>
                  </a:cubicBezTo>
                  <a:close/>
                </a:path>
              </a:pathLst>
            </a:custGeom>
            <a:solidFill>
              <a:srgbClr val="F3F5EF"/>
            </a:solidFill>
            <a:ln w="25400" cap="sq">
              <a:solidFill>
                <a:srgbClr val="F3F5EF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914400" y="2560320"/>
            <a:ext cx="3474720" cy="1097280"/>
            <a:chOff x="0" y="0"/>
            <a:chExt cx="4632960" cy="14630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632960" cy="1463040"/>
            </a:xfrm>
            <a:custGeom>
              <a:avLst/>
              <a:gdLst/>
              <a:ahLst/>
              <a:cxnLst/>
              <a:rect r="r" b="b" t="t" l="l"/>
              <a:pathLst>
                <a:path h="146304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702" r="0" b="-1170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4632960" cy="15106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1F2A1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Chrome extension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5B6B5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MV3, plain JavaScript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01703" y="3919223"/>
            <a:ext cx="3500123" cy="1122683"/>
            <a:chOff x="0" y="0"/>
            <a:chExt cx="4666831" cy="149691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666869" cy="1497076"/>
            </a:xfrm>
            <a:custGeom>
              <a:avLst/>
              <a:gdLst/>
              <a:ahLst/>
              <a:cxnLst/>
              <a:rect r="r" b="b" t="t" l="l"/>
              <a:pathLst>
                <a:path h="1497076" w="4666869">
                  <a:moveTo>
                    <a:pt x="0" y="199644"/>
                  </a:moveTo>
                  <a:cubicBezTo>
                    <a:pt x="0" y="89408"/>
                    <a:pt x="89408" y="0"/>
                    <a:pt x="199644" y="0"/>
                  </a:cubicBezTo>
                  <a:lnTo>
                    <a:pt x="4467225" y="0"/>
                  </a:lnTo>
                  <a:cubicBezTo>
                    <a:pt x="4577461" y="0"/>
                    <a:pt x="4666869" y="89408"/>
                    <a:pt x="4666869" y="199644"/>
                  </a:cubicBezTo>
                  <a:lnTo>
                    <a:pt x="4666869" y="1297432"/>
                  </a:lnTo>
                  <a:cubicBezTo>
                    <a:pt x="4666869" y="1407668"/>
                    <a:pt x="4577461" y="1497076"/>
                    <a:pt x="4467225" y="1497076"/>
                  </a:cubicBezTo>
                  <a:lnTo>
                    <a:pt x="199644" y="1497076"/>
                  </a:lnTo>
                  <a:cubicBezTo>
                    <a:pt x="89408" y="1496949"/>
                    <a:pt x="0" y="1407541"/>
                    <a:pt x="0" y="1297305"/>
                  </a:cubicBezTo>
                  <a:close/>
                </a:path>
              </a:pathLst>
            </a:custGeom>
            <a:solidFill>
              <a:srgbClr val="E3F0DC"/>
            </a:solidFill>
            <a:ln w="25400" cap="sq">
              <a:solidFill>
                <a:srgbClr val="E3F0DC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914400" y="3931920"/>
            <a:ext cx="3474720" cy="1097280"/>
            <a:chOff x="0" y="0"/>
            <a:chExt cx="4632960" cy="14630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632960" cy="1463040"/>
            </a:xfrm>
            <a:custGeom>
              <a:avLst/>
              <a:gdLst/>
              <a:ahLst/>
              <a:cxnLst/>
              <a:rect r="r" b="b" t="t" l="l"/>
              <a:pathLst>
                <a:path h="146304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702" r="0" b="-11702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4632960" cy="15106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1F2A1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Local cache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5B6B5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per hostname, 6 hours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01703" y="6022343"/>
            <a:ext cx="3500123" cy="1122683"/>
            <a:chOff x="0" y="0"/>
            <a:chExt cx="4666831" cy="149691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666869" cy="1497076"/>
            </a:xfrm>
            <a:custGeom>
              <a:avLst/>
              <a:gdLst/>
              <a:ahLst/>
              <a:cxnLst/>
              <a:rect r="r" b="b" t="t" l="l"/>
              <a:pathLst>
                <a:path h="1497076" w="4666869">
                  <a:moveTo>
                    <a:pt x="0" y="199644"/>
                  </a:moveTo>
                  <a:cubicBezTo>
                    <a:pt x="0" y="89408"/>
                    <a:pt x="89408" y="0"/>
                    <a:pt x="199644" y="0"/>
                  </a:cubicBezTo>
                  <a:lnTo>
                    <a:pt x="4467225" y="0"/>
                  </a:lnTo>
                  <a:cubicBezTo>
                    <a:pt x="4577461" y="0"/>
                    <a:pt x="4666869" y="89408"/>
                    <a:pt x="4666869" y="199644"/>
                  </a:cubicBezTo>
                  <a:lnTo>
                    <a:pt x="4666869" y="1297432"/>
                  </a:lnTo>
                  <a:cubicBezTo>
                    <a:pt x="4666869" y="1407668"/>
                    <a:pt x="4577461" y="1497076"/>
                    <a:pt x="4467225" y="1497076"/>
                  </a:cubicBezTo>
                  <a:lnTo>
                    <a:pt x="199644" y="1497076"/>
                  </a:lnTo>
                  <a:cubicBezTo>
                    <a:pt x="89408" y="1496949"/>
                    <a:pt x="0" y="1407541"/>
                    <a:pt x="0" y="1297305"/>
                  </a:cubicBezTo>
                  <a:close/>
                </a:path>
              </a:pathLst>
            </a:custGeom>
            <a:solidFill>
              <a:srgbClr val="F3F5EF"/>
            </a:solidFill>
            <a:ln w="25400" cap="sq">
              <a:solidFill>
                <a:srgbClr val="F3F5EF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914400" y="6035040"/>
            <a:ext cx="3474720" cy="1097280"/>
            <a:chOff x="0" y="0"/>
            <a:chExt cx="4632960" cy="14630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632960" cy="1463040"/>
            </a:xfrm>
            <a:custGeom>
              <a:avLst/>
              <a:gdLst/>
              <a:ahLst/>
              <a:cxnLst/>
              <a:rect r="r" b="b" t="t" l="l"/>
              <a:pathLst>
                <a:path h="146304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702" r="0" b="-11702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4632960" cy="15106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1F2A1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Web scanner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5B6B5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React 19 + Vite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14400" y="5120640"/>
            <a:ext cx="3474720" cy="457200"/>
            <a:chOff x="0" y="0"/>
            <a:chExt cx="4632960" cy="6096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632960" cy="609600"/>
            </a:xfrm>
            <a:custGeom>
              <a:avLst/>
              <a:gdLst/>
              <a:ahLst/>
              <a:cxnLst/>
              <a:rect r="r" b="b" t="t" l="l"/>
              <a:pathLst>
                <a:path h="60960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8086" r="0" b="-98086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463296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i="true">
                  <a:solidFill>
                    <a:srgbClr val="467235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cache hit: released, no request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5394960" y="2048256"/>
            <a:ext cx="4754880" cy="365760"/>
            <a:chOff x="0" y="0"/>
            <a:chExt cx="6339840" cy="48768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339840" cy="487680"/>
            </a:xfrm>
            <a:custGeom>
              <a:avLst/>
              <a:gdLst/>
              <a:ahLst/>
              <a:cxnLst/>
              <a:rect r="r" b="b" t="t" l="l"/>
              <a:pathLst>
                <a:path h="48768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3305" r="0" b="-203305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633984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b="true" sz="1800" spc="399">
                  <a:solidFill>
                    <a:srgbClr val="8A958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FASTAPI BACKEND · STAGES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5382263" y="2511047"/>
            <a:ext cx="4780283" cy="1012955"/>
            <a:chOff x="0" y="0"/>
            <a:chExt cx="6373711" cy="1350607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373749" cy="1350645"/>
            </a:xfrm>
            <a:custGeom>
              <a:avLst/>
              <a:gdLst/>
              <a:ahLst/>
              <a:cxnLst/>
              <a:rect r="r" b="b" t="t" l="l"/>
              <a:pathLst>
                <a:path h="1350645" w="6373749">
                  <a:moveTo>
                    <a:pt x="0" y="200152"/>
                  </a:moveTo>
                  <a:cubicBezTo>
                    <a:pt x="0" y="89535"/>
                    <a:pt x="89535" y="0"/>
                    <a:pt x="200152" y="0"/>
                  </a:cubicBezTo>
                  <a:lnTo>
                    <a:pt x="6173597" y="0"/>
                  </a:lnTo>
                  <a:cubicBezTo>
                    <a:pt x="6284087" y="0"/>
                    <a:pt x="6373749" y="89535"/>
                    <a:pt x="6373749" y="200152"/>
                  </a:cubicBezTo>
                  <a:lnTo>
                    <a:pt x="6373749" y="1150493"/>
                  </a:lnTo>
                  <a:cubicBezTo>
                    <a:pt x="6373749" y="1260983"/>
                    <a:pt x="6284214" y="1350645"/>
                    <a:pt x="6173597" y="1350645"/>
                  </a:cubicBezTo>
                  <a:lnTo>
                    <a:pt x="200152" y="1350645"/>
                  </a:lnTo>
                  <a:cubicBezTo>
                    <a:pt x="89535" y="1350645"/>
                    <a:pt x="0" y="1260983"/>
                    <a:pt x="0" y="1150493"/>
                  </a:cubicBezTo>
                  <a:close/>
                </a:path>
              </a:pathLst>
            </a:custGeom>
            <a:solidFill>
              <a:srgbClr val="1B2616"/>
            </a:solidFill>
            <a:ln w="25400" cap="sq">
              <a:solidFill>
                <a:srgbClr val="1B2616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5394960" y="2523744"/>
            <a:ext cx="4754880" cy="987552"/>
            <a:chOff x="0" y="0"/>
            <a:chExt cx="6339840" cy="131673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339840" cy="1316736"/>
            </a:xfrm>
            <a:custGeom>
              <a:avLst/>
              <a:gdLst/>
              <a:ahLst/>
              <a:cxnLst/>
              <a:rect r="r" b="b" t="t" l="l"/>
              <a:pathLst>
                <a:path h="1316736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816" r="0" b="-43816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47625"/>
              <a:ext cx="6339840" cy="13643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 · Content guard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C8D3C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file links refused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1234423" y="2511047"/>
            <a:ext cx="3865883" cy="1012955"/>
            <a:chOff x="0" y="0"/>
            <a:chExt cx="5154511" cy="1350607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154549" cy="1350645"/>
            </a:xfrm>
            <a:custGeom>
              <a:avLst/>
              <a:gdLst/>
              <a:ahLst/>
              <a:cxnLst/>
              <a:rect r="r" b="b" t="t" l="l"/>
              <a:pathLst>
                <a:path h="1350645" w="5154549">
                  <a:moveTo>
                    <a:pt x="0" y="200152"/>
                  </a:moveTo>
                  <a:cubicBezTo>
                    <a:pt x="0" y="89535"/>
                    <a:pt x="89535" y="0"/>
                    <a:pt x="200152" y="0"/>
                  </a:cubicBezTo>
                  <a:lnTo>
                    <a:pt x="4954397" y="0"/>
                  </a:lnTo>
                  <a:cubicBezTo>
                    <a:pt x="5064887" y="0"/>
                    <a:pt x="5154549" y="89535"/>
                    <a:pt x="5154549" y="200152"/>
                  </a:cubicBezTo>
                  <a:lnTo>
                    <a:pt x="5154549" y="1150493"/>
                  </a:lnTo>
                  <a:cubicBezTo>
                    <a:pt x="5154549" y="1260983"/>
                    <a:pt x="5065014" y="1350645"/>
                    <a:pt x="4954397" y="1350645"/>
                  </a:cubicBezTo>
                  <a:lnTo>
                    <a:pt x="200152" y="1350645"/>
                  </a:lnTo>
                  <a:cubicBezTo>
                    <a:pt x="89535" y="1350645"/>
                    <a:pt x="0" y="1260983"/>
                    <a:pt x="0" y="1150493"/>
                  </a:cubicBezTo>
                  <a:close/>
                </a:path>
              </a:pathLst>
            </a:custGeom>
            <a:solidFill>
              <a:srgbClr val="F3F5EF"/>
            </a:solidFill>
            <a:ln w="25400" cap="sq">
              <a:solidFill>
                <a:srgbClr val="F3F5EF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11247120" y="2523744"/>
            <a:ext cx="3840480" cy="987552"/>
            <a:chOff x="0" y="0"/>
            <a:chExt cx="5120640" cy="1316736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120640" cy="1316736"/>
            </a:xfrm>
            <a:custGeom>
              <a:avLst/>
              <a:gdLst/>
              <a:ahLst/>
              <a:cxnLst/>
              <a:rect r="r" b="b" t="t" l="l"/>
              <a:pathLst>
                <a:path h="1316736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775" r="0" b="-25775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47625"/>
              <a:ext cx="5120640" cy="13643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1F2A1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not a webpage</a:t>
              </a:r>
            </a:p>
          </p:txBody>
        </p:sp>
      </p:grpSp>
      <p:sp>
        <p:nvSpPr>
          <p:cNvPr name="AutoShape 39" id="39"/>
          <p:cNvSpPr/>
          <p:nvPr/>
        </p:nvSpPr>
        <p:spPr>
          <a:xfrm rot="92880">
            <a:off x="10228412" y="2988945"/>
            <a:ext cx="940146" cy="0"/>
          </a:xfrm>
          <a:prstGeom prst="line">
            <a:avLst/>
          </a:prstGeom>
          <a:ln cap="rnd" w="57150">
            <a:solidFill>
              <a:srgbClr val="8A958A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40" id="40"/>
          <p:cNvSpPr/>
          <p:nvPr/>
        </p:nvSpPr>
        <p:spPr>
          <a:xfrm>
            <a:off x="7759704" y="3516882"/>
            <a:ext cx="0" cy="201173"/>
          </a:xfrm>
          <a:prstGeom prst="line">
            <a:avLst/>
          </a:prstGeom>
          <a:ln cap="rnd" w="57150">
            <a:solidFill>
              <a:srgbClr val="8A958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1" id="41"/>
          <p:cNvGrpSpPr/>
          <p:nvPr/>
        </p:nvGrpSpPr>
        <p:grpSpPr>
          <a:xfrm rot="0">
            <a:off x="5382263" y="3718055"/>
            <a:ext cx="4780283" cy="1012955"/>
            <a:chOff x="0" y="0"/>
            <a:chExt cx="6373711" cy="1350607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373749" cy="1350645"/>
            </a:xfrm>
            <a:custGeom>
              <a:avLst/>
              <a:gdLst/>
              <a:ahLst/>
              <a:cxnLst/>
              <a:rect r="r" b="b" t="t" l="l"/>
              <a:pathLst>
                <a:path h="1350645" w="6373749">
                  <a:moveTo>
                    <a:pt x="0" y="200152"/>
                  </a:moveTo>
                  <a:cubicBezTo>
                    <a:pt x="0" y="89535"/>
                    <a:pt x="89535" y="0"/>
                    <a:pt x="200152" y="0"/>
                  </a:cubicBezTo>
                  <a:lnTo>
                    <a:pt x="6173597" y="0"/>
                  </a:lnTo>
                  <a:cubicBezTo>
                    <a:pt x="6284087" y="0"/>
                    <a:pt x="6373749" y="89535"/>
                    <a:pt x="6373749" y="200152"/>
                  </a:cubicBezTo>
                  <a:lnTo>
                    <a:pt x="6373749" y="1150493"/>
                  </a:lnTo>
                  <a:cubicBezTo>
                    <a:pt x="6373749" y="1260983"/>
                    <a:pt x="6284214" y="1350645"/>
                    <a:pt x="6173597" y="1350645"/>
                  </a:cubicBezTo>
                  <a:lnTo>
                    <a:pt x="200152" y="1350645"/>
                  </a:lnTo>
                  <a:cubicBezTo>
                    <a:pt x="89535" y="1350645"/>
                    <a:pt x="0" y="1260983"/>
                    <a:pt x="0" y="1150493"/>
                  </a:cubicBezTo>
                  <a:close/>
                </a:path>
              </a:pathLst>
            </a:custGeom>
            <a:solidFill>
              <a:srgbClr val="1B2616"/>
            </a:solidFill>
            <a:ln w="25400" cap="sq">
              <a:solidFill>
                <a:srgbClr val="1B2616"/>
              </a:solidFill>
              <a:prstDash val="solid"/>
              <a:miter/>
            </a:ln>
          </p:spPr>
        </p:sp>
      </p:grpSp>
      <p:grpSp>
        <p:nvGrpSpPr>
          <p:cNvPr name="Group 43" id="43"/>
          <p:cNvGrpSpPr/>
          <p:nvPr/>
        </p:nvGrpSpPr>
        <p:grpSpPr>
          <a:xfrm rot="0">
            <a:off x="5394960" y="3730752"/>
            <a:ext cx="4754880" cy="987552"/>
            <a:chOff x="0" y="0"/>
            <a:chExt cx="6339840" cy="1316736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6339840" cy="1316736"/>
            </a:xfrm>
            <a:custGeom>
              <a:avLst/>
              <a:gdLst/>
              <a:ahLst/>
              <a:cxnLst/>
              <a:rect r="r" b="b" t="t" l="l"/>
              <a:pathLst>
                <a:path h="1316736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816" r="0" b="-43816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47625"/>
              <a:ext cx="6339840" cy="13643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 · Scan archive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C8D3C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SQL Server, shared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1234423" y="3718055"/>
            <a:ext cx="3865883" cy="1012955"/>
            <a:chOff x="0" y="0"/>
            <a:chExt cx="5154511" cy="1350607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5154549" cy="1350645"/>
            </a:xfrm>
            <a:custGeom>
              <a:avLst/>
              <a:gdLst/>
              <a:ahLst/>
              <a:cxnLst/>
              <a:rect r="r" b="b" t="t" l="l"/>
              <a:pathLst>
                <a:path h="1350645" w="5154549">
                  <a:moveTo>
                    <a:pt x="0" y="200152"/>
                  </a:moveTo>
                  <a:cubicBezTo>
                    <a:pt x="0" y="89535"/>
                    <a:pt x="89535" y="0"/>
                    <a:pt x="200152" y="0"/>
                  </a:cubicBezTo>
                  <a:lnTo>
                    <a:pt x="4954397" y="0"/>
                  </a:lnTo>
                  <a:cubicBezTo>
                    <a:pt x="5064887" y="0"/>
                    <a:pt x="5154549" y="89535"/>
                    <a:pt x="5154549" y="200152"/>
                  </a:cubicBezTo>
                  <a:lnTo>
                    <a:pt x="5154549" y="1150493"/>
                  </a:lnTo>
                  <a:cubicBezTo>
                    <a:pt x="5154549" y="1260983"/>
                    <a:pt x="5065014" y="1350645"/>
                    <a:pt x="4954397" y="1350645"/>
                  </a:cubicBezTo>
                  <a:lnTo>
                    <a:pt x="200152" y="1350645"/>
                  </a:lnTo>
                  <a:cubicBezTo>
                    <a:pt x="89535" y="1350645"/>
                    <a:pt x="0" y="1260983"/>
                    <a:pt x="0" y="1150493"/>
                  </a:cubicBezTo>
                  <a:close/>
                </a:path>
              </a:pathLst>
            </a:custGeom>
            <a:solidFill>
              <a:srgbClr val="F3F5EF"/>
            </a:solidFill>
            <a:ln w="25400" cap="sq">
              <a:solidFill>
                <a:srgbClr val="F3F5EF"/>
              </a:solidFill>
              <a:prstDash val="solid"/>
              <a:miter/>
            </a:ln>
          </p:spPr>
        </p:sp>
      </p:grpSp>
      <p:grpSp>
        <p:nvGrpSpPr>
          <p:cNvPr name="Group 48" id="48"/>
          <p:cNvGrpSpPr/>
          <p:nvPr/>
        </p:nvGrpSpPr>
        <p:grpSpPr>
          <a:xfrm rot="0">
            <a:off x="11247120" y="3730752"/>
            <a:ext cx="3840480" cy="987552"/>
            <a:chOff x="0" y="0"/>
            <a:chExt cx="5120640" cy="1316736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5120640" cy="1316736"/>
            </a:xfrm>
            <a:custGeom>
              <a:avLst/>
              <a:gdLst/>
              <a:ahLst/>
              <a:cxnLst/>
              <a:rect r="r" b="b" t="t" l="l"/>
              <a:pathLst>
                <a:path h="1316736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775" r="0" b="-25775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47625"/>
              <a:ext cx="5120640" cy="13643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1F2A1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saved verdict</a:t>
              </a:r>
            </a:p>
          </p:txBody>
        </p:sp>
      </p:grpSp>
      <p:sp>
        <p:nvSpPr>
          <p:cNvPr name="AutoShape 51" id="51"/>
          <p:cNvSpPr/>
          <p:nvPr/>
        </p:nvSpPr>
        <p:spPr>
          <a:xfrm rot="92880">
            <a:off x="10228412" y="4195953"/>
            <a:ext cx="940146" cy="0"/>
          </a:xfrm>
          <a:prstGeom prst="line">
            <a:avLst/>
          </a:prstGeom>
          <a:ln cap="rnd" w="57150">
            <a:solidFill>
              <a:srgbClr val="8A958A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52" id="52"/>
          <p:cNvSpPr/>
          <p:nvPr/>
        </p:nvSpPr>
        <p:spPr>
          <a:xfrm rot="4982820">
            <a:off x="7667492" y="4799457"/>
            <a:ext cx="209826" cy="0"/>
          </a:xfrm>
          <a:prstGeom prst="line">
            <a:avLst/>
          </a:prstGeom>
          <a:ln cap="rnd" w="57150">
            <a:solidFill>
              <a:srgbClr val="8A958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3" id="53"/>
          <p:cNvGrpSpPr/>
          <p:nvPr/>
        </p:nvGrpSpPr>
        <p:grpSpPr>
          <a:xfrm rot="0">
            <a:off x="5382263" y="4925063"/>
            <a:ext cx="4780283" cy="1012955"/>
            <a:chOff x="0" y="0"/>
            <a:chExt cx="6373711" cy="1350607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6373749" cy="1350645"/>
            </a:xfrm>
            <a:custGeom>
              <a:avLst/>
              <a:gdLst/>
              <a:ahLst/>
              <a:cxnLst/>
              <a:rect r="r" b="b" t="t" l="l"/>
              <a:pathLst>
                <a:path h="1350645" w="6373749">
                  <a:moveTo>
                    <a:pt x="0" y="200152"/>
                  </a:moveTo>
                  <a:cubicBezTo>
                    <a:pt x="0" y="89535"/>
                    <a:pt x="89535" y="0"/>
                    <a:pt x="200152" y="0"/>
                  </a:cubicBezTo>
                  <a:lnTo>
                    <a:pt x="6173597" y="0"/>
                  </a:lnTo>
                  <a:cubicBezTo>
                    <a:pt x="6284087" y="0"/>
                    <a:pt x="6373749" y="89535"/>
                    <a:pt x="6373749" y="200152"/>
                  </a:cubicBezTo>
                  <a:lnTo>
                    <a:pt x="6373749" y="1150493"/>
                  </a:lnTo>
                  <a:cubicBezTo>
                    <a:pt x="6373749" y="1260983"/>
                    <a:pt x="6284214" y="1350645"/>
                    <a:pt x="6173597" y="1350645"/>
                  </a:cubicBezTo>
                  <a:lnTo>
                    <a:pt x="200152" y="1350645"/>
                  </a:lnTo>
                  <a:cubicBezTo>
                    <a:pt x="89535" y="1350645"/>
                    <a:pt x="0" y="1260983"/>
                    <a:pt x="0" y="1150493"/>
                  </a:cubicBezTo>
                  <a:close/>
                </a:path>
              </a:pathLst>
            </a:custGeom>
            <a:solidFill>
              <a:srgbClr val="1B2616"/>
            </a:solidFill>
            <a:ln w="25400" cap="sq">
              <a:solidFill>
                <a:srgbClr val="1B2616"/>
              </a:solidFill>
              <a:prstDash val="solid"/>
              <a:miter/>
            </a:ln>
          </p:spPr>
        </p:sp>
      </p:grpSp>
      <p:grpSp>
        <p:nvGrpSpPr>
          <p:cNvPr name="Group 55" id="55"/>
          <p:cNvGrpSpPr/>
          <p:nvPr/>
        </p:nvGrpSpPr>
        <p:grpSpPr>
          <a:xfrm rot="0">
            <a:off x="5394960" y="4937760"/>
            <a:ext cx="4754880" cy="987552"/>
            <a:chOff x="0" y="0"/>
            <a:chExt cx="6339840" cy="1316736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6339840" cy="1316736"/>
            </a:xfrm>
            <a:custGeom>
              <a:avLst/>
              <a:gdLst/>
              <a:ahLst/>
              <a:cxnLst/>
              <a:rect r="r" b="b" t="t" l="l"/>
              <a:pathLst>
                <a:path h="1316736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816" r="0" b="-43816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47625"/>
              <a:ext cx="6339840" cy="13643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 · Threat feed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C8D3C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URLhaus: URL, path, IP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1234423" y="4925063"/>
            <a:ext cx="3865883" cy="1012955"/>
            <a:chOff x="0" y="0"/>
            <a:chExt cx="5154511" cy="1350607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5154549" cy="1350645"/>
            </a:xfrm>
            <a:custGeom>
              <a:avLst/>
              <a:gdLst/>
              <a:ahLst/>
              <a:cxnLst/>
              <a:rect r="r" b="b" t="t" l="l"/>
              <a:pathLst>
                <a:path h="1350645" w="5154549">
                  <a:moveTo>
                    <a:pt x="0" y="200152"/>
                  </a:moveTo>
                  <a:cubicBezTo>
                    <a:pt x="0" y="89535"/>
                    <a:pt x="89535" y="0"/>
                    <a:pt x="200152" y="0"/>
                  </a:cubicBezTo>
                  <a:lnTo>
                    <a:pt x="4954397" y="0"/>
                  </a:lnTo>
                  <a:cubicBezTo>
                    <a:pt x="5064887" y="0"/>
                    <a:pt x="5154549" y="89535"/>
                    <a:pt x="5154549" y="200152"/>
                  </a:cubicBezTo>
                  <a:lnTo>
                    <a:pt x="5154549" y="1150493"/>
                  </a:lnTo>
                  <a:cubicBezTo>
                    <a:pt x="5154549" y="1260983"/>
                    <a:pt x="5065014" y="1350645"/>
                    <a:pt x="4954397" y="1350645"/>
                  </a:cubicBezTo>
                  <a:lnTo>
                    <a:pt x="200152" y="1350645"/>
                  </a:lnTo>
                  <a:cubicBezTo>
                    <a:pt x="89535" y="1350645"/>
                    <a:pt x="0" y="1260983"/>
                    <a:pt x="0" y="1150493"/>
                  </a:cubicBezTo>
                  <a:close/>
                </a:path>
              </a:pathLst>
            </a:custGeom>
            <a:solidFill>
              <a:srgbClr val="F3F5EF"/>
            </a:solidFill>
            <a:ln w="25400" cap="sq">
              <a:solidFill>
                <a:srgbClr val="F3F5EF"/>
              </a:solidFill>
              <a:prstDash val="solid"/>
              <a:miter/>
            </a:ln>
          </p:spPr>
        </p:sp>
      </p:grpSp>
      <p:grpSp>
        <p:nvGrpSpPr>
          <p:cNvPr name="Group 60" id="60"/>
          <p:cNvGrpSpPr/>
          <p:nvPr/>
        </p:nvGrpSpPr>
        <p:grpSpPr>
          <a:xfrm rot="0">
            <a:off x="11247120" y="4937760"/>
            <a:ext cx="3840480" cy="987552"/>
            <a:chOff x="0" y="0"/>
            <a:chExt cx="5120640" cy="1316736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5120640" cy="1316736"/>
            </a:xfrm>
            <a:custGeom>
              <a:avLst/>
              <a:gdLst/>
              <a:ahLst/>
              <a:cxnLst/>
              <a:rect r="r" b="b" t="t" l="l"/>
              <a:pathLst>
                <a:path h="1316736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775" r="0" b="-25775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47625"/>
              <a:ext cx="5120640" cy="13643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1F2A1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malware · High Risk</a:t>
              </a:r>
            </a:p>
          </p:txBody>
        </p:sp>
      </p:grpSp>
      <p:sp>
        <p:nvSpPr>
          <p:cNvPr name="AutoShape 63" id="63"/>
          <p:cNvSpPr/>
          <p:nvPr/>
        </p:nvSpPr>
        <p:spPr>
          <a:xfrm rot="92880">
            <a:off x="10228412" y="5402961"/>
            <a:ext cx="940146" cy="0"/>
          </a:xfrm>
          <a:prstGeom prst="line">
            <a:avLst/>
          </a:prstGeom>
          <a:ln cap="rnd" w="57150">
            <a:solidFill>
              <a:srgbClr val="8A958A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64" id="64"/>
          <p:cNvSpPr/>
          <p:nvPr/>
        </p:nvSpPr>
        <p:spPr>
          <a:xfrm rot="4982820">
            <a:off x="7667492" y="6006465"/>
            <a:ext cx="209826" cy="0"/>
          </a:xfrm>
          <a:prstGeom prst="line">
            <a:avLst/>
          </a:prstGeom>
          <a:ln cap="rnd" w="57150">
            <a:solidFill>
              <a:srgbClr val="8A958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5" id="65"/>
          <p:cNvGrpSpPr/>
          <p:nvPr/>
        </p:nvGrpSpPr>
        <p:grpSpPr>
          <a:xfrm rot="0">
            <a:off x="5382263" y="6132071"/>
            <a:ext cx="4780283" cy="1012955"/>
            <a:chOff x="0" y="0"/>
            <a:chExt cx="6373711" cy="1350607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6373749" cy="1350645"/>
            </a:xfrm>
            <a:custGeom>
              <a:avLst/>
              <a:gdLst/>
              <a:ahLst/>
              <a:cxnLst/>
              <a:rect r="r" b="b" t="t" l="l"/>
              <a:pathLst>
                <a:path h="1350645" w="6373749">
                  <a:moveTo>
                    <a:pt x="0" y="200152"/>
                  </a:moveTo>
                  <a:cubicBezTo>
                    <a:pt x="0" y="89535"/>
                    <a:pt x="89535" y="0"/>
                    <a:pt x="200152" y="0"/>
                  </a:cubicBezTo>
                  <a:lnTo>
                    <a:pt x="6173597" y="0"/>
                  </a:lnTo>
                  <a:cubicBezTo>
                    <a:pt x="6284087" y="0"/>
                    <a:pt x="6373749" y="89535"/>
                    <a:pt x="6373749" y="200152"/>
                  </a:cubicBezTo>
                  <a:lnTo>
                    <a:pt x="6373749" y="1150493"/>
                  </a:lnTo>
                  <a:cubicBezTo>
                    <a:pt x="6373749" y="1260983"/>
                    <a:pt x="6284214" y="1350645"/>
                    <a:pt x="6173597" y="1350645"/>
                  </a:cubicBezTo>
                  <a:lnTo>
                    <a:pt x="200152" y="1350645"/>
                  </a:lnTo>
                  <a:cubicBezTo>
                    <a:pt x="89535" y="1350645"/>
                    <a:pt x="0" y="1260983"/>
                    <a:pt x="0" y="1150493"/>
                  </a:cubicBezTo>
                  <a:close/>
                </a:path>
              </a:pathLst>
            </a:custGeom>
            <a:solidFill>
              <a:srgbClr val="1B2616"/>
            </a:solidFill>
            <a:ln w="25400" cap="sq">
              <a:solidFill>
                <a:srgbClr val="1B2616"/>
              </a:solidFill>
              <a:prstDash val="solid"/>
              <a:miter/>
            </a:ln>
          </p:spPr>
        </p:sp>
      </p:grpSp>
      <p:grpSp>
        <p:nvGrpSpPr>
          <p:cNvPr name="Group 67" id="67"/>
          <p:cNvGrpSpPr/>
          <p:nvPr/>
        </p:nvGrpSpPr>
        <p:grpSpPr>
          <a:xfrm rot="0">
            <a:off x="5394960" y="6144768"/>
            <a:ext cx="4754880" cy="987552"/>
            <a:chOff x="0" y="0"/>
            <a:chExt cx="6339840" cy="1316736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6339840" cy="1316736"/>
            </a:xfrm>
            <a:custGeom>
              <a:avLst/>
              <a:gdLst/>
              <a:ahLst/>
              <a:cxnLst/>
              <a:rect r="r" b="b" t="t" l="l"/>
              <a:pathLst>
                <a:path h="1316736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816" r="0" b="-43816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47625"/>
              <a:ext cx="6339840" cy="13643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 · Lexical rules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C8D3C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clears Tranco / known hosts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11234423" y="6132071"/>
            <a:ext cx="3865883" cy="1012955"/>
            <a:chOff x="0" y="0"/>
            <a:chExt cx="5154511" cy="1350607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5154549" cy="1350645"/>
            </a:xfrm>
            <a:custGeom>
              <a:avLst/>
              <a:gdLst/>
              <a:ahLst/>
              <a:cxnLst/>
              <a:rect r="r" b="b" t="t" l="l"/>
              <a:pathLst>
                <a:path h="1350645" w="5154549">
                  <a:moveTo>
                    <a:pt x="0" y="200152"/>
                  </a:moveTo>
                  <a:cubicBezTo>
                    <a:pt x="0" y="89535"/>
                    <a:pt x="89535" y="0"/>
                    <a:pt x="200152" y="0"/>
                  </a:cubicBezTo>
                  <a:lnTo>
                    <a:pt x="4954397" y="0"/>
                  </a:lnTo>
                  <a:cubicBezTo>
                    <a:pt x="5064887" y="0"/>
                    <a:pt x="5154549" y="89535"/>
                    <a:pt x="5154549" y="200152"/>
                  </a:cubicBezTo>
                  <a:lnTo>
                    <a:pt x="5154549" y="1150493"/>
                  </a:lnTo>
                  <a:cubicBezTo>
                    <a:pt x="5154549" y="1260983"/>
                    <a:pt x="5065014" y="1350645"/>
                    <a:pt x="4954397" y="1350645"/>
                  </a:cubicBezTo>
                  <a:lnTo>
                    <a:pt x="200152" y="1350645"/>
                  </a:lnTo>
                  <a:cubicBezTo>
                    <a:pt x="89535" y="1350645"/>
                    <a:pt x="0" y="1260983"/>
                    <a:pt x="0" y="1150493"/>
                  </a:cubicBezTo>
                  <a:close/>
                </a:path>
              </a:pathLst>
            </a:custGeom>
            <a:solidFill>
              <a:srgbClr val="F3F5EF"/>
            </a:solidFill>
            <a:ln w="25400" cap="sq">
              <a:solidFill>
                <a:srgbClr val="F3F5EF"/>
              </a:solidFill>
              <a:prstDash val="solid"/>
              <a:miter/>
            </a:ln>
          </p:spPr>
        </p:sp>
      </p:grpSp>
      <p:grpSp>
        <p:nvGrpSpPr>
          <p:cNvPr name="Group 72" id="72"/>
          <p:cNvGrpSpPr/>
          <p:nvPr/>
        </p:nvGrpSpPr>
        <p:grpSpPr>
          <a:xfrm rot="0">
            <a:off x="11247120" y="6144768"/>
            <a:ext cx="3840480" cy="987552"/>
            <a:chOff x="0" y="0"/>
            <a:chExt cx="5120640" cy="1316736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5120640" cy="1316736"/>
            </a:xfrm>
            <a:custGeom>
              <a:avLst/>
              <a:gdLst/>
              <a:ahLst/>
              <a:cxnLst/>
              <a:rect r="r" b="b" t="t" l="l"/>
              <a:pathLst>
                <a:path h="1316736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775" r="0" b="-25775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47625"/>
              <a:ext cx="5120640" cy="13643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1F2A1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benign, never fetched</a:t>
              </a:r>
            </a:p>
          </p:txBody>
        </p:sp>
      </p:grpSp>
      <p:sp>
        <p:nvSpPr>
          <p:cNvPr name="AutoShape 75" id="75"/>
          <p:cNvSpPr/>
          <p:nvPr/>
        </p:nvSpPr>
        <p:spPr>
          <a:xfrm rot="92880">
            <a:off x="10228412" y="6609969"/>
            <a:ext cx="940146" cy="0"/>
          </a:xfrm>
          <a:prstGeom prst="line">
            <a:avLst/>
          </a:prstGeom>
          <a:ln cap="rnd" w="57150">
            <a:solidFill>
              <a:srgbClr val="8A958A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76" id="76"/>
          <p:cNvSpPr/>
          <p:nvPr/>
        </p:nvSpPr>
        <p:spPr>
          <a:xfrm rot="4982820">
            <a:off x="7667492" y="7213473"/>
            <a:ext cx="209826" cy="0"/>
          </a:xfrm>
          <a:prstGeom prst="line">
            <a:avLst/>
          </a:prstGeom>
          <a:ln cap="rnd" w="57150">
            <a:solidFill>
              <a:srgbClr val="8A958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7" id="77"/>
          <p:cNvGrpSpPr/>
          <p:nvPr/>
        </p:nvGrpSpPr>
        <p:grpSpPr>
          <a:xfrm rot="0">
            <a:off x="5382263" y="7339079"/>
            <a:ext cx="4780283" cy="1012955"/>
            <a:chOff x="0" y="0"/>
            <a:chExt cx="6373711" cy="1350607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6373749" cy="1350645"/>
            </a:xfrm>
            <a:custGeom>
              <a:avLst/>
              <a:gdLst/>
              <a:ahLst/>
              <a:cxnLst/>
              <a:rect r="r" b="b" t="t" l="l"/>
              <a:pathLst>
                <a:path h="1350645" w="6373749">
                  <a:moveTo>
                    <a:pt x="0" y="200152"/>
                  </a:moveTo>
                  <a:cubicBezTo>
                    <a:pt x="0" y="89535"/>
                    <a:pt x="89535" y="0"/>
                    <a:pt x="200152" y="0"/>
                  </a:cubicBezTo>
                  <a:lnTo>
                    <a:pt x="6173597" y="0"/>
                  </a:lnTo>
                  <a:cubicBezTo>
                    <a:pt x="6284087" y="0"/>
                    <a:pt x="6373749" y="89535"/>
                    <a:pt x="6373749" y="200152"/>
                  </a:cubicBezTo>
                  <a:lnTo>
                    <a:pt x="6373749" y="1150493"/>
                  </a:lnTo>
                  <a:cubicBezTo>
                    <a:pt x="6373749" y="1260983"/>
                    <a:pt x="6284214" y="1350645"/>
                    <a:pt x="6173597" y="1350645"/>
                  </a:cubicBezTo>
                  <a:lnTo>
                    <a:pt x="200152" y="1350645"/>
                  </a:lnTo>
                  <a:cubicBezTo>
                    <a:pt x="89535" y="1350645"/>
                    <a:pt x="0" y="1260983"/>
                    <a:pt x="0" y="1150493"/>
                  </a:cubicBezTo>
                  <a:close/>
                </a:path>
              </a:pathLst>
            </a:custGeom>
            <a:solidFill>
              <a:srgbClr val="F7C948"/>
            </a:solidFill>
            <a:ln w="25400" cap="sq">
              <a:solidFill>
                <a:srgbClr val="F7C948"/>
              </a:solidFill>
              <a:prstDash val="solid"/>
              <a:miter/>
            </a:ln>
          </p:spPr>
        </p:sp>
      </p:grpSp>
      <p:grpSp>
        <p:nvGrpSpPr>
          <p:cNvPr name="Group 79" id="79"/>
          <p:cNvGrpSpPr/>
          <p:nvPr/>
        </p:nvGrpSpPr>
        <p:grpSpPr>
          <a:xfrm rot="0">
            <a:off x="5394960" y="7351776"/>
            <a:ext cx="4754880" cy="987552"/>
            <a:chOff x="0" y="0"/>
            <a:chExt cx="6339840" cy="1316736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6339840" cy="1316736"/>
            </a:xfrm>
            <a:custGeom>
              <a:avLst/>
              <a:gdLst/>
              <a:ahLst/>
              <a:cxnLst/>
              <a:rect r="r" b="b" t="t" l="l"/>
              <a:pathLst>
                <a:path h="1316736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816" r="0" b="-43816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47625"/>
              <a:ext cx="6339840" cy="13643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1B261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 · Page analysis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1F2A1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Chromium, then Laya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11234423" y="7339079"/>
            <a:ext cx="3865883" cy="1012955"/>
            <a:chOff x="0" y="0"/>
            <a:chExt cx="5154511" cy="1350607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5154549" cy="1350645"/>
            </a:xfrm>
            <a:custGeom>
              <a:avLst/>
              <a:gdLst/>
              <a:ahLst/>
              <a:cxnLst/>
              <a:rect r="r" b="b" t="t" l="l"/>
              <a:pathLst>
                <a:path h="1350645" w="5154549">
                  <a:moveTo>
                    <a:pt x="0" y="200152"/>
                  </a:moveTo>
                  <a:cubicBezTo>
                    <a:pt x="0" y="89535"/>
                    <a:pt x="89535" y="0"/>
                    <a:pt x="200152" y="0"/>
                  </a:cubicBezTo>
                  <a:lnTo>
                    <a:pt x="4954397" y="0"/>
                  </a:lnTo>
                  <a:cubicBezTo>
                    <a:pt x="5064887" y="0"/>
                    <a:pt x="5154549" y="89535"/>
                    <a:pt x="5154549" y="200152"/>
                  </a:cubicBezTo>
                  <a:lnTo>
                    <a:pt x="5154549" y="1150493"/>
                  </a:lnTo>
                  <a:cubicBezTo>
                    <a:pt x="5154549" y="1260983"/>
                    <a:pt x="5065014" y="1350645"/>
                    <a:pt x="4954397" y="1350645"/>
                  </a:cubicBezTo>
                  <a:lnTo>
                    <a:pt x="200152" y="1350645"/>
                  </a:lnTo>
                  <a:cubicBezTo>
                    <a:pt x="89535" y="1350645"/>
                    <a:pt x="0" y="1260983"/>
                    <a:pt x="0" y="1150493"/>
                  </a:cubicBezTo>
                  <a:close/>
                </a:path>
              </a:pathLst>
            </a:custGeom>
            <a:solidFill>
              <a:srgbClr val="F3F5EF"/>
            </a:solidFill>
            <a:ln w="25400" cap="sq">
              <a:solidFill>
                <a:srgbClr val="F3F5EF"/>
              </a:solidFill>
              <a:prstDash val="solid"/>
              <a:miter/>
            </a:ln>
          </p:spPr>
        </p:sp>
      </p:grpSp>
      <p:grpSp>
        <p:nvGrpSpPr>
          <p:cNvPr name="Group 84" id="84"/>
          <p:cNvGrpSpPr/>
          <p:nvPr/>
        </p:nvGrpSpPr>
        <p:grpSpPr>
          <a:xfrm rot="0">
            <a:off x="11247120" y="7351776"/>
            <a:ext cx="3840480" cy="987552"/>
            <a:chOff x="0" y="0"/>
            <a:chExt cx="5120640" cy="1316736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5120640" cy="1316736"/>
            </a:xfrm>
            <a:custGeom>
              <a:avLst/>
              <a:gdLst/>
              <a:ahLst/>
              <a:cxnLst/>
              <a:rect r="r" b="b" t="t" l="l"/>
              <a:pathLst>
                <a:path h="1316736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775" r="0" b="-25775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47625"/>
              <a:ext cx="5120640" cy="13643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1F2A1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verdict, corroborated</a:t>
              </a:r>
            </a:p>
          </p:txBody>
        </p:sp>
      </p:grpSp>
      <p:sp>
        <p:nvSpPr>
          <p:cNvPr name="AutoShape 87" id="87"/>
          <p:cNvSpPr/>
          <p:nvPr/>
        </p:nvSpPr>
        <p:spPr>
          <a:xfrm rot="92880">
            <a:off x="10228412" y="7816977"/>
            <a:ext cx="940146" cy="0"/>
          </a:xfrm>
          <a:prstGeom prst="line">
            <a:avLst/>
          </a:prstGeom>
          <a:ln cap="rnd" w="57150">
            <a:solidFill>
              <a:srgbClr val="8A958A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88" id="88"/>
          <p:cNvSpPr/>
          <p:nvPr/>
        </p:nvSpPr>
        <p:spPr>
          <a:xfrm>
            <a:off x="4467863" y="3108965"/>
            <a:ext cx="848364" cy="12696"/>
          </a:xfrm>
          <a:prstGeom prst="line">
            <a:avLst/>
          </a:prstGeom>
          <a:ln cap="rnd" w="57150">
            <a:solidFill>
              <a:srgbClr val="8A958A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89" id="89"/>
          <p:cNvSpPr/>
          <p:nvPr/>
        </p:nvSpPr>
        <p:spPr>
          <a:xfrm>
            <a:off x="4467863" y="6583680"/>
            <a:ext cx="848364" cy="12701"/>
          </a:xfrm>
          <a:prstGeom prst="line">
            <a:avLst/>
          </a:prstGeom>
          <a:ln cap="rnd" w="57150">
            <a:solidFill>
              <a:srgbClr val="8A958A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90" id="90"/>
          <p:cNvGrpSpPr/>
          <p:nvPr/>
        </p:nvGrpSpPr>
        <p:grpSpPr>
          <a:xfrm rot="0">
            <a:off x="11247120" y="2048256"/>
            <a:ext cx="3840480" cy="365760"/>
            <a:chOff x="0" y="0"/>
            <a:chExt cx="5120640" cy="487680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5120640" cy="487680"/>
            </a:xfrm>
            <a:custGeom>
              <a:avLst/>
              <a:gdLst/>
              <a:ahLst/>
              <a:cxnLst/>
              <a:rect r="r" b="b" t="t" l="l"/>
              <a:pathLst>
                <a:path h="48768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4592" r="0" b="-154592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-38100"/>
              <a:ext cx="5120640" cy="525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b="true" sz="2000" spc="400">
                  <a:solidFill>
                    <a:srgbClr val="8A958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OUTCOME</a:t>
              </a: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914400" y="8869680"/>
            <a:ext cx="2743200" cy="512064"/>
            <a:chOff x="0" y="0"/>
            <a:chExt cx="3657600" cy="682752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3657600" cy="682752"/>
            </a:xfrm>
            <a:custGeom>
              <a:avLst/>
              <a:gdLst/>
              <a:ahLst/>
              <a:cxnLst/>
              <a:rect r="r" b="b" t="t" l="l"/>
              <a:pathLst>
                <a:path h="682752" w="3657600">
                  <a:moveTo>
                    <a:pt x="0" y="341376"/>
                  </a:moveTo>
                  <a:cubicBezTo>
                    <a:pt x="0" y="152781"/>
                    <a:pt x="152781" y="0"/>
                    <a:pt x="341376" y="0"/>
                  </a:cubicBezTo>
                  <a:lnTo>
                    <a:pt x="3316224" y="0"/>
                  </a:lnTo>
                  <a:cubicBezTo>
                    <a:pt x="3504819" y="0"/>
                    <a:pt x="3657600" y="152781"/>
                    <a:pt x="3657600" y="341376"/>
                  </a:cubicBezTo>
                  <a:cubicBezTo>
                    <a:pt x="3657600" y="529971"/>
                    <a:pt x="3504819" y="682752"/>
                    <a:pt x="3316224" y="682752"/>
                  </a:cubicBezTo>
                  <a:lnTo>
                    <a:pt x="341376" y="682752"/>
                  </a:lnTo>
                  <a:cubicBezTo>
                    <a:pt x="152781" y="682752"/>
                    <a:pt x="0" y="529971"/>
                    <a:pt x="0" y="341376"/>
                  </a:cubicBezTo>
                  <a:close/>
                </a:path>
              </a:pathLst>
            </a:custGeom>
            <a:solidFill>
              <a:srgbClr val="F7C948"/>
            </a:solidFill>
            <a:ln cap="sq">
              <a:noFill/>
              <a:prstDash val="solid"/>
              <a:miter/>
            </a:ln>
          </p:spPr>
        </p:sp>
        <p:sp>
          <p:nvSpPr>
            <p:cNvPr name="TextBox 95" id="95"/>
            <p:cNvSpPr txBox="true"/>
            <p:nvPr/>
          </p:nvSpPr>
          <p:spPr>
            <a:xfrm>
              <a:off x="0" y="-38100"/>
              <a:ext cx="3657600" cy="7208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1B261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Python + FastAPI</a:t>
              </a:r>
            </a:p>
          </p:txBody>
        </p:sp>
      </p:grpSp>
      <p:grpSp>
        <p:nvGrpSpPr>
          <p:cNvPr name="Group 96" id="96"/>
          <p:cNvGrpSpPr/>
          <p:nvPr/>
        </p:nvGrpSpPr>
        <p:grpSpPr>
          <a:xfrm rot="0">
            <a:off x="3840480" y="8869680"/>
            <a:ext cx="1920240" cy="512064"/>
            <a:chOff x="0" y="0"/>
            <a:chExt cx="2560320" cy="682752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2560320" cy="682752"/>
            </a:xfrm>
            <a:custGeom>
              <a:avLst/>
              <a:gdLst/>
              <a:ahLst/>
              <a:cxnLst/>
              <a:rect r="r" b="b" t="t" l="l"/>
              <a:pathLst>
                <a:path h="682752" w="2560320">
                  <a:moveTo>
                    <a:pt x="0" y="341376"/>
                  </a:moveTo>
                  <a:cubicBezTo>
                    <a:pt x="0" y="152781"/>
                    <a:pt x="152781" y="0"/>
                    <a:pt x="341376" y="0"/>
                  </a:cubicBezTo>
                  <a:lnTo>
                    <a:pt x="2218944" y="0"/>
                  </a:lnTo>
                  <a:cubicBezTo>
                    <a:pt x="2407539" y="0"/>
                    <a:pt x="2560320" y="152781"/>
                    <a:pt x="2560320" y="341376"/>
                  </a:cubicBezTo>
                  <a:cubicBezTo>
                    <a:pt x="2560320" y="529971"/>
                    <a:pt x="2407539" y="682752"/>
                    <a:pt x="2218944" y="682752"/>
                  </a:cubicBezTo>
                  <a:lnTo>
                    <a:pt x="341376" y="682752"/>
                  </a:lnTo>
                  <a:cubicBezTo>
                    <a:pt x="152781" y="682752"/>
                    <a:pt x="0" y="529971"/>
                    <a:pt x="0" y="341376"/>
                  </a:cubicBezTo>
                  <a:close/>
                </a:path>
              </a:pathLst>
            </a:custGeom>
            <a:solidFill>
              <a:srgbClr val="F7C948"/>
            </a:solidFill>
            <a:ln cap="sq">
              <a:noFill/>
              <a:prstDash val="solid"/>
              <a:miter/>
            </a:ln>
          </p:spPr>
        </p:sp>
        <p:sp>
          <p:nvSpPr>
            <p:cNvPr name="TextBox 98" id="98"/>
            <p:cNvSpPr txBox="true"/>
            <p:nvPr/>
          </p:nvSpPr>
          <p:spPr>
            <a:xfrm>
              <a:off x="0" y="-38100"/>
              <a:ext cx="2560320" cy="7208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1B261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Playwright</a:t>
              </a:r>
            </a:p>
          </p:txBody>
        </p:sp>
      </p:grpSp>
      <p:grpSp>
        <p:nvGrpSpPr>
          <p:cNvPr name="Group 99" id="99"/>
          <p:cNvGrpSpPr/>
          <p:nvPr/>
        </p:nvGrpSpPr>
        <p:grpSpPr>
          <a:xfrm rot="0">
            <a:off x="5943600" y="8869680"/>
            <a:ext cx="2743200" cy="512064"/>
            <a:chOff x="0" y="0"/>
            <a:chExt cx="3657600" cy="682752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3657600" cy="682752"/>
            </a:xfrm>
            <a:custGeom>
              <a:avLst/>
              <a:gdLst/>
              <a:ahLst/>
              <a:cxnLst/>
              <a:rect r="r" b="b" t="t" l="l"/>
              <a:pathLst>
                <a:path h="682752" w="3657600">
                  <a:moveTo>
                    <a:pt x="0" y="341376"/>
                  </a:moveTo>
                  <a:cubicBezTo>
                    <a:pt x="0" y="152781"/>
                    <a:pt x="152781" y="0"/>
                    <a:pt x="341376" y="0"/>
                  </a:cubicBezTo>
                  <a:lnTo>
                    <a:pt x="3316224" y="0"/>
                  </a:lnTo>
                  <a:cubicBezTo>
                    <a:pt x="3504819" y="0"/>
                    <a:pt x="3657600" y="152781"/>
                    <a:pt x="3657600" y="341376"/>
                  </a:cubicBezTo>
                  <a:cubicBezTo>
                    <a:pt x="3657600" y="529971"/>
                    <a:pt x="3504819" y="682752"/>
                    <a:pt x="3316224" y="682752"/>
                  </a:cubicBezTo>
                  <a:lnTo>
                    <a:pt x="341376" y="682752"/>
                  </a:lnTo>
                  <a:cubicBezTo>
                    <a:pt x="152781" y="682752"/>
                    <a:pt x="0" y="529971"/>
                    <a:pt x="0" y="341376"/>
                  </a:cubicBezTo>
                  <a:close/>
                </a:path>
              </a:pathLst>
            </a:custGeom>
            <a:solidFill>
              <a:srgbClr val="F7C948"/>
            </a:solidFill>
            <a:ln cap="sq">
              <a:noFill/>
              <a:prstDash val="solid"/>
              <a:miter/>
            </a:ln>
          </p:spPr>
        </p:sp>
        <p:sp>
          <p:nvSpPr>
            <p:cNvPr name="TextBox 101" id="101"/>
            <p:cNvSpPr txBox="true"/>
            <p:nvPr/>
          </p:nvSpPr>
          <p:spPr>
            <a:xfrm>
              <a:off x="0" y="-38100"/>
              <a:ext cx="3657600" cy="7208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1B261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ModernBERT-large</a:t>
              </a:r>
            </a:p>
          </p:txBody>
        </p:sp>
      </p:grpSp>
      <p:grpSp>
        <p:nvGrpSpPr>
          <p:cNvPr name="Group 102" id="102"/>
          <p:cNvGrpSpPr/>
          <p:nvPr/>
        </p:nvGrpSpPr>
        <p:grpSpPr>
          <a:xfrm rot="0">
            <a:off x="8869680" y="8869680"/>
            <a:ext cx="1920240" cy="512064"/>
            <a:chOff x="0" y="0"/>
            <a:chExt cx="2560320" cy="682752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2560320" cy="682752"/>
            </a:xfrm>
            <a:custGeom>
              <a:avLst/>
              <a:gdLst/>
              <a:ahLst/>
              <a:cxnLst/>
              <a:rect r="r" b="b" t="t" l="l"/>
              <a:pathLst>
                <a:path h="682752" w="2560320">
                  <a:moveTo>
                    <a:pt x="0" y="341376"/>
                  </a:moveTo>
                  <a:cubicBezTo>
                    <a:pt x="0" y="152781"/>
                    <a:pt x="152781" y="0"/>
                    <a:pt x="341376" y="0"/>
                  </a:cubicBezTo>
                  <a:lnTo>
                    <a:pt x="2218944" y="0"/>
                  </a:lnTo>
                  <a:cubicBezTo>
                    <a:pt x="2407539" y="0"/>
                    <a:pt x="2560320" y="152781"/>
                    <a:pt x="2560320" y="341376"/>
                  </a:cubicBezTo>
                  <a:cubicBezTo>
                    <a:pt x="2560320" y="529971"/>
                    <a:pt x="2407539" y="682752"/>
                    <a:pt x="2218944" y="682752"/>
                  </a:cubicBezTo>
                  <a:lnTo>
                    <a:pt x="341376" y="682752"/>
                  </a:lnTo>
                  <a:cubicBezTo>
                    <a:pt x="152781" y="682752"/>
                    <a:pt x="0" y="529971"/>
                    <a:pt x="0" y="341376"/>
                  </a:cubicBezTo>
                  <a:close/>
                </a:path>
              </a:pathLst>
            </a:custGeom>
            <a:solidFill>
              <a:srgbClr val="F7C948"/>
            </a:solidFill>
            <a:ln cap="sq">
              <a:noFill/>
              <a:prstDash val="solid"/>
              <a:miter/>
            </a:ln>
          </p:spPr>
        </p:sp>
        <p:sp>
          <p:nvSpPr>
            <p:cNvPr name="TextBox 104" id="104"/>
            <p:cNvSpPr txBox="true"/>
            <p:nvPr/>
          </p:nvSpPr>
          <p:spPr>
            <a:xfrm>
              <a:off x="0" y="-38100"/>
              <a:ext cx="2560320" cy="7208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1B261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SQL Server</a:t>
              </a:r>
            </a:p>
          </p:txBody>
        </p:sp>
      </p:grpSp>
      <p:grpSp>
        <p:nvGrpSpPr>
          <p:cNvPr name="Group 105" id="105"/>
          <p:cNvGrpSpPr/>
          <p:nvPr/>
        </p:nvGrpSpPr>
        <p:grpSpPr>
          <a:xfrm rot="0">
            <a:off x="10972800" y="8869680"/>
            <a:ext cx="1920240" cy="512064"/>
            <a:chOff x="0" y="0"/>
            <a:chExt cx="2560320" cy="682752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2560320" cy="682752"/>
            </a:xfrm>
            <a:custGeom>
              <a:avLst/>
              <a:gdLst/>
              <a:ahLst/>
              <a:cxnLst/>
              <a:rect r="r" b="b" t="t" l="l"/>
              <a:pathLst>
                <a:path h="682752" w="2560320">
                  <a:moveTo>
                    <a:pt x="0" y="341376"/>
                  </a:moveTo>
                  <a:cubicBezTo>
                    <a:pt x="0" y="152781"/>
                    <a:pt x="152781" y="0"/>
                    <a:pt x="341376" y="0"/>
                  </a:cubicBezTo>
                  <a:lnTo>
                    <a:pt x="2218944" y="0"/>
                  </a:lnTo>
                  <a:cubicBezTo>
                    <a:pt x="2407539" y="0"/>
                    <a:pt x="2560320" y="152781"/>
                    <a:pt x="2560320" y="341376"/>
                  </a:cubicBezTo>
                  <a:cubicBezTo>
                    <a:pt x="2560320" y="529971"/>
                    <a:pt x="2407539" y="682752"/>
                    <a:pt x="2218944" y="682752"/>
                  </a:cubicBezTo>
                  <a:lnTo>
                    <a:pt x="341376" y="682752"/>
                  </a:lnTo>
                  <a:cubicBezTo>
                    <a:pt x="152781" y="682752"/>
                    <a:pt x="0" y="529971"/>
                    <a:pt x="0" y="341376"/>
                  </a:cubicBezTo>
                  <a:close/>
                </a:path>
              </a:pathLst>
            </a:custGeom>
            <a:solidFill>
              <a:srgbClr val="F7C948"/>
            </a:solidFill>
            <a:ln cap="sq">
              <a:noFill/>
              <a:prstDash val="solid"/>
              <a:miter/>
            </a:ln>
          </p:spPr>
        </p:sp>
        <p:sp>
          <p:nvSpPr>
            <p:cNvPr name="TextBox 107" id="107"/>
            <p:cNvSpPr txBox="true"/>
            <p:nvPr/>
          </p:nvSpPr>
          <p:spPr>
            <a:xfrm>
              <a:off x="0" y="-38100"/>
              <a:ext cx="2560320" cy="7208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1B261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Chrome MV3</a:t>
              </a:r>
            </a:p>
          </p:txBody>
        </p:sp>
      </p:grpSp>
      <p:grpSp>
        <p:nvGrpSpPr>
          <p:cNvPr name="Group 108" id="108"/>
          <p:cNvGrpSpPr/>
          <p:nvPr/>
        </p:nvGrpSpPr>
        <p:grpSpPr>
          <a:xfrm rot="0">
            <a:off x="13075920" y="8869680"/>
            <a:ext cx="1645920" cy="512064"/>
            <a:chOff x="0" y="0"/>
            <a:chExt cx="2194560" cy="682752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2194560" cy="682752"/>
            </a:xfrm>
            <a:custGeom>
              <a:avLst/>
              <a:gdLst/>
              <a:ahLst/>
              <a:cxnLst/>
              <a:rect r="r" b="b" t="t" l="l"/>
              <a:pathLst>
                <a:path h="682752" w="2194560">
                  <a:moveTo>
                    <a:pt x="0" y="341376"/>
                  </a:moveTo>
                  <a:cubicBezTo>
                    <a:pt x="0" y="152781"/>
                    <a:pt x="152781" y="0"/>
                    <a:pt x="341376" y="0"/>
                  </a:cubicBezTo>
                  <a:lnTo>
                    <a:pt x="1853184" y="0"/>
                  </a:lnTo>
                  <a:cubicBezTo>
                    <a:pt x="2041779" y="0"/>
                    <a:pt x="2194560" y="152781"/>
                    <a:pt x="2194560" y="341376"/>
                  </a:cubicBezTo>
                  <a:cubicBezTo>
                    <a:pt x="2194560" y="529971"/>
                    <a:pt x="2041779" y="682752"/>
                    <a:pt x="1853184" y="682752"/>
                  </a:cubicBezTo>
                  <a:lnTo>
                    <a:pt x="341376" y="682752"/>
                  </a:lnTo>
                  <a:cubicBezTo>
                    <a:pt x="152781" y="682752"/>
                    <a:pt x="0" y="529971"/>
                    <a:pt x="0" y="341376"/>
                  </a:cubicBezTo>
                  <a:close/>
                </a:path>
              </a:pathLst>
            </a:custGeom>
            <a:solidFill>
              <a:srgbClr val="F7C948"/>
            </a:solidFill>
            <a:ln cap="sq">
              <a:noFill/>
              <a:prstDash val="solid"/>
              <a:miter/>
            </a:ln>
          </p:spPr>
        </p:sp>
        <p:sp>
          <p:nvSpPr>
            <p:cNvPr name="TextBox 110" id="110"/>
            <p:cNvSpPr txBox="true"/>
            <p:nvPr/>
          </p:nvSpPr>
          <p:spPr>
            <a:xfrm>
              <a:off x="0" y="-38100"/>
              <a:ext cx="2194560" cy="7208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1B261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React 19</a:t>
              </a:r>
            </a:p>
          </p:txBody>
        </p:sp>
      </p:grpSp>
      <p:grpSp>
        <p:nvGrpSpPr>
          <p:cNvPr name="Group 111" id="111"/>
          <p:cNvGrpSpPr/>
          <p:nvPr/>
        </p:nvGrpSpPr>
        <p:grpSpPr>
          <a:xfrm rot="0">
            <a:off x="11887200" y="9601200"/>
            <a:ext cx="5486400" cy="457200"/>
            <a:chOff x="0" y="0"/>
            <a:chExt cx="7315200" cy="609600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7315200" cy="609600"/>
            </a:xfrm>
            <a:custGeom>
              <a:avLst/>
              <a:gdLst/>
              <a:ahLst/>
              <a:cxnLst/>
              <a:rect r="r" b="b" t="t" l="l"/>
              <a:pathLst>
                <a:path h="60960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113" id="113"/>
            <p:cNvSpPr txBox="true"/>
            <p:nvPr/>
          </p:nvSpPr>
          <p:spPr>
            <a:xfrm>
              <a:off x="0" y="-38100"/>
              <a:ext cx="73152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8A958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Phisang · HackNusa 2026   7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85216"/>
            <a:ext cx="16459200" cy="1097280"/>
            <a:chOff x="0" y="0"/>
            <a:chExt cx="2194560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194560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20"/>
                </a:lnSpc>
              </a:pPr>
              <a:r>
                <a:rPr lang="en-US" sz="5600" b="true">
                  <a:solidFill>
                    <a:srgbClr val="1F2A1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Security framework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1645920"/>
            <a:ext cx="16459200" cy="640080"/>
            <a:chOff x="0" y="0"/>
            <a:chExt cx="21945600" cy="8534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853440"/>
            </a:xfrm>
            <a:custGeom>
              <a:avLst/>
              <a:gdLst/>
              <a:ahLst/>
              <a:cxnLst/>
              <a:rect r="r" b="b" t="t" l="l"/>
              <a:pathLst>
                <a:path h="8534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1043" r="0" b="-451043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21945600" cy="9201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5B6B5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The service fetches what strangers submit, so it treats its own fetcher as hostile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01703" y="2547623"/>
            <a:ext cx="5237483" cy="2768603"/>
            <a:chOff x="0" y="0"/>
            <a:chExt cx="6983311" cy="369147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983222" cy="3691382"/>
            </a:xfrm>
            <a:custGeom>
              <a:avLst/>
              <a:gdLst/>
              <a:ahLst/>
              <a:cxnLst/>
              <a:rect r="r" b="b" t="t" l="l"/>
              <a:pathLst>
                <a:path h="3691382" w="6983222">
                  <a:moveTo>
                    <a:pt x="0" y="295275"/>
                  </a:moveTo>
                  <a:cubicBezTo>
                    <a:pt x="0" y="132207"/>
                    <a:pt x="132207" y="0"/>
                    <a:pt x="295275" y="0"/>
                  </a:cubicBezTo>
                  <a:lnTo>
                    <a:pt x="6687947" y="0"/>
                  </a:lnTo>
                  <a:cubicBezTo>
                    <a:pt x="6851015" y="0"/>
                    <a:pt x="6983222" y="132207"/>
                    <a:pt x="6983222" y="295275"/>
                  </a:cubicBezTo>
                  <a:lnTo>
                    <a:pt x="6983222" y="3396107"/>
                  </a:lnTo>
                  <a:cubicBezTo>
                    <a:pt x="6983222" y="3559175"/>
                    <a:pt x="6851015" y="3691382"/>
                    <a:pt x="6687947" y="3691382"/>
                  </a:cubicBezTo>
                  <a:lnTo>
                    <a:pt x="295275" y="3691382"/>
                  </a:lnTo>
                  <a:cubicBezTo>
                    <a:pt x="132207" y="3691509"/>
                    <a:pt x="0" y="3559302"/>
                    <a:pt x="0" y="3396107"/>
                  </a:cubicBezTo>
                  <a:close/>
                </a:path>
              </a:pathLst>
            </a:custGeom>
            <a:solidFill>
              <a:srgbClr val="F3F5EF"/>
            </a:solidFill>
            <a:ln w="25400" cap="sq">
              <a:solidFill>
                <a:srgbClr val="F3F5EF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230887" y="2858519"/>
            <a:ext cx="830075" cy="830075"/>
            <a:chOff x="0" y="0"/>
            <a:chExt cx="1106767" cy="110676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06805" cy="1106805"/>
            </a:xfrm>
            <a:custGeom>
              <a:avLst/>
              <a:gdLst/>
              <a:ahLst/>
              <a:cxnLst/>
              <a:rect r="r" b="b" t="t" l="l"/>
              <a:pathLst>
                <a:path h="1106805" w="1106805">
                  <a:moveTo>
                    <a:pt x="0" y="553339"/>
                  </a:moveTo>
                  <a:cubicBezTo>
                    <a:pt x="0" y="247777"/>
                    <a:pt x="247777" y="0"/>
                    <a:pt x="553339" y="0"/>
                  </a:cubicBezTo>
                  <a:cubicBezTo>
                    <a:pt x="858901" y="0"/>
                    <a:pt x="1106805" y="247777"/>
                    <a:pt x="1106805" y="553339"/>
                  </a:cubicBezTo>
                  <a:cubicBezTo>
                    <a:pt x="1106805" y="858901"/>
                    <a:pt x="859028" y="1106805"/>
                    <a:pt x="553339" y="1106805"/>
                  </a:cubicBezTo>
                  <a:cubicBezTo>
                    <a:pt x="247650" y="1106805"/>
                    <a:pt x="0" y="859028"/>
                    <a:pt x="0" y="553339"/>
                  </a:cubicBezTo>
                  <a:close/>
                </a:path>
              </a:pathLst>
            </a:custGeom>
            <a:solidFill>
              <a:srgbClr val="F7C948"/>
            </a:solidFill>
            <a:ln w="25400" cap="sq">
              <a:solidFill>
                <a:srgbClr val="F7C948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444752" y="3072384"/>
            <a:ext cx="402336" cy="402336"/>
            <a:chOff x="0" y="0"/>
            <a:chExt cx="536448" cy="536448"/>
          </a:xfrm>
        </p:grpSpPr>
        <p:sp>
          <p:nvSpPr>
            <p:cNvPr name="Freeform 13" id="13" descr="preencoded.png"/>
            <p:cNvSpPr/>
            <p:nvPr/>
          </p:nvSpPr>
          <p:spPr>
            <a:xfrm flipH="false" flipV="false" rot="0">
              <a:off x="0" y="0"/>
              <a:ext cx="536448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">
                  <a:moveTo>
                    <a:pt x="0" y="0"/>
                  </a:moveTo>
                  <a:lnTo>
                    <a:pt x="536448" y="0"/>
                  </a:lnTo>
                  <a:lnTo>
                    <a:pt x="536448" y="536448"/>
                  </a:lnTo>
                  <a:lnTo>
                    <a:pt x="0" y="5364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286000" y="2871216"/>
            <a:ext cx="3657600" cy="804672"/>
            <a:chOff x="0" y="0"/>
            <a:chExt cx="4876800" cy="107289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876800" cy="1072896"/>
            </a:xfrm>
            <a:custGeom>
              <a:avLst/>
              <a:gdLst/>
              <a:ahLst/>
              <a:cxnLst/>
              <a:rect r="r" b="b" t="t" l="l"/>
              <a:pathLst>
                <a:path h="1072896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568" r="0" b="-38568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4876800" cy="10824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F2A1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SSRF: two layers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243584" y="3840480"/>
            <a:ext cx="4663440" cy="1371600"/>
            <a:chOff x="0" y="0"/>
            <a:chExt cx="6217920" cy="1828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217920" cy="1828800"/>
            </a:xfrm>
            <a:custGeom>
              <a:avLst/>
              <a:gdLst/>
              <a:ahLst/>
              <a:cxnLst/>
              <a:rect r="r" b="b" t="t" l="l"/>
              <a:pathLst>
                <a:path h="182880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249" r="0" b="-16249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6217920" cy="1876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5B6B5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Phisang </a:t>
              </a:r>
              <a:r>
                <a:rPr lang="en-US" sz="2100">
                  <a:solidFill>
                    <a:srgbClr val="5B6B5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checks before and after DNS, incl. obfuscated IPs; systemd IPAddressDeny blocks the same ranges in the kernel.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479543" y="2547623"/>
            <a:ext cx="5237483" cy="2768603"/>
            <a:chOff x="0" y="0"/>
            <a:chExt cx="6983311" cy="369147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983222" cy="3691382"/>
            </a:xfrm>
            <a:custGeom>
              <a:avLst/>
              <a:gdLst/>
              <a:ahLst/>
              <a:cxnLst/>
              <a:rect r="r" b="b" t="t" l="l"/>
              <a:pathLst>
                <a:path h="3691382" w="6983222">
                  <a:moveTo>
                    <a:pt x="0" y="295275"/>
                  </a:moveTo>
                  <a:cubicBezTo>
                    <a:pt x="0" y="132207"/>
                    <a:pt x="132207" y="0"/>
                    <a:pt x="295275" y="0"/>
                  </a:cubicBezTo>
                  <a:lnTo>
                    <a:pt x="6687947" y="0"/>
                  </a:lnTo>
                  <a:cubicBezTo>
                    <a:pt x="6851015" y="0"/>
                    <a:pt x="6983222" y="132207"/>
                    <a:pt x="6983222" y="295275"/>
                  </a:cubicBezTo>
                  <a:lnTo>
                    <a:pt x="6983222" y="3396107"/>
                  </a:lnTo>
                  <a:cubicBezTo>
                    <a:pt x="6983222" y="3559175"/>
                    <a:pt x="6851015" y="3691382"/>
                    <a:pt x="6687947" y="3691382"/>
                  </a:cubicBezTo>
                  <a:lnTo>
                    <a:pt x="295275" y="3691382"/>
                  </a:lnTo>
                  <a:cubicBezTo>
                    <a:pt x="132207" y="3691509"/>
                    <a:pt x="0" y="3559302"/>
                    <a:pt x="0" y="3396107"/>
                  </a:cubicBezTo>
                  <a:close/>
                </a:path>
              </a:pathLst>
            </a:custGeom>
            <a:solidFill>
              <a:srgbClr val="F3F5EF"/>
            </a:solidFill>
            <a:ln w="25400" cap="sq">
              <a:solidFill>
                <a:srgbClr val="F3F5EF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6808727" y="2858519"/>
            <a:ext cx="830075" cy="830075"/>
            <a:chOff x="0" y="0"/>
            <a:chExt cx="1106767" cy="1106767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106805" cy="1106805"/>
            </a:xfrm>
            <a:custGeom>
              <a:avLst/>
              <a:gdLst/>
              <a:ahLst/>
              <a:cxnLst/>
              <a:rect r="r" b="b" t="t" l="l"/>
              <a:pathLst>
                <a:path h="1106805" w="1106805">
                  <a:moveTo>
                    <a:pt x="0" y="553339"/>
                  </a:moveTo>
                  <a:cubicBezTo>
                    <a:pt x="0" y="247777"/>
                    <a:pt x="247777" y="0"/>
                    <a:pt x="553339" y="0"/>
                  </a:cubicBezTo>
                  <a:cubicBezTo>
                    <a:pt x="858901" y="0"/>
                    <a:pt x="1106805" y="247777"/>
                    <a:pt x="1106805" y="553339"/>
                  </a:cubicBezTo>
                  <a:cubicBezTo>
                    <a:pt x="1106805" y="858901"/>
                    <a:pt x="859028" y="1106805"/>
                    <a:pt x="553339" y="1106805"/>
                  </a:cubicBezTo>
                  <a:cubicBezTo>
                    <a:pt x="247650" y="1106805"/>
                    <a:pt x="0" y="859028"/>
                    <a:pt x="0" y="553339"/>
                  </a:cubicBezTo>
                  <a:close/>
                </a:path>
              </a:pathLst>
            </a:custGeom>
            <a:solidFill>
              <a:srgbClr val="F7C948"/>
            </a:solidFill>
            <a:ln w="25400" cap="sq">
              <a:solidFill>
                <a:srgbClr val="F7C948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7022592" y="3072384"/>
            <a:ext cx="402336" cy="402336"/>
            <a:chOff x="0" y="0"/>
            <a:chExt cx="536448" cy="536448"/>
          </a:xfrm>
        </p:grpSpPr>
        <p:sp>
          <p:nvSpPr>
            <p:cNvPr name="Freeform 25" id="25" descr="preencoded.png"/>
            <p:cNvSpPr/>
            <p:nvPr/>
          </p:nvSpPr>
          <p:spPr>
            <a:xfrm flipH="false" flipV="false" rot="0">
              <a:off x="0" y="0"/>
              <a:ext cx="536448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">
                  <a:moveTo>
                    <a:pt x="0" y="0"/>
                  </a:moveTo>
                  <a:lnTo>
                    <a:pt x="536448" y="0"/>
                  </a:lnTo>
                  <a:lnTo>
                    <a:pt x="536448" y="536448"/>
                  </a:lnTo>
                  <a:lnTo>
                    <a:pt x="0" y="5364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7863840" y="2871216"/>
            <a:ext cx="3657600" cy="804672"/>
            <a:chOff x="0" y="0"/>
            <a:chExt cx="4876800" cy="107289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876800" cy="1072896"/>
            </a:xfrm>
            <a:custGeom>
              <a:avLst/>
              <a:gdLst/>
              <a:ahLst/>
              <a:cxnLst/>
              <a:rect r="r" b="b" t="t" l="l"/>
              <a:pathLst>
                <a:path h="1072896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568" r="0" b="-38568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4876800" cy="10824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F2A1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Hardened host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6821424" y="3840480"/>
            <a:ext cx="4663440" cy="1371600"/>
            <a:chOff x="0" y="0"/>
            <a:chExt cx="6217920" cy="1828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217920" cy="1828800"/>
            </a:xfrm>
            <a:custGeom>
              <a:avLst/>
              <a:gdLst/>
              <a:ahLst/>
              <a:cxnLst/>
              <a:rect r="r" b="b" t="t" l="l"/>
              <a:pathLst>
                <a:path h="182880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249" r="0" b="-16249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6217920" cy="1876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5B6B5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Non-login user, ProtectSystem=strict, syscall filter, 3 GB and 45 s ceilings, Unix socket, Chromium sandbox kept.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2057383" y="2547623"/>
            <a:ext cx="5237483" cy="2768603"/>
            <a:chOff x="0" y="0"/>
            <a:chExt cx="6983311" cy="369147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983222" cy="3691382"/>
            </a:xfrm>
            <a:custGeom>
              <a:avLst/>
              <a:gdLst/>
              <a:ahLst/>
              <a:cxnLst/>
              <a:rect r="r" b="b" t="t" l="l"/>
              <a:pathLst>
                <a:path h="3691382" w="6983222">
                  <a:moveTo>
                    <a:pt x="0" y="295275"/>
                  </a:moveTo>
                  <a:cubicBezTo>
                    <a:pt x="0" y="132207"/>
                    <a:pt x="132207" y="0"/>
                    <a:pt x="295275" y="0"/>
                  </a:cubicBezTo>
                  <a:lnTo>
                    <a:pt x="6687947" y="0"/>
                  </a:lnTo>
                  <a:cubicBezTo>
                    <a:pt x="6851015" y="0"/>
                    <a:pt x="6983222" y="132207"/>
                    <a:pt x="6983222" y="295275"/>
                  </a:cubicBezTo>
                  <a:lnTo>
                    <a:pt x="6983222" y="3396107"/>
                  </a:lnTo>
                  <a:cubicBezTo>
                    <a:pt x="6983222" y="3559175"/>
                    <a:pt x="6851015" y="3691382"/>
                    <a:pt x="6687947" y="3691382"/>
                  </a:cubicBezTo>
                  <a:lnTo>
                    <a:pt x="295275" y="3691382"/>
                  </a:lnTo>
                  <a:cubicBezTo>
                    <a:pt x="132207" y="3691509"/>
                    <a:pt x="0" y="3559302"/>
                    <a:pt x="0" y="3396107"/>
                  </a:cubicBezTo>
                  <a:close/>
                </a:path>
              </a:pathLst>
            </a:custGeom>
            <a:solidFill>
              <a:srgbClr val="F3F5EF"/>
            </a:solidFill>
            <a:ln w="25400" cap="sq">
              <a:solidFill>
                <a:srgbClr val="F3F5EF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12386567" y="2858519"/>
            <a:ext cx="830075" cy="830075"/>
            <a:chOff x="0" y="0"/>
            <a:chExt cx="1106767" cy="1106767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106805" cy="1106805"/>
            </a:xfrm>
            <a:custGeom>
              <a:avLst/>
              <a:gdLst/>
              <a:ahLst/>
              <a:cxnLst/>
              <a:rect r="r" b="b" t="t" l="l"/>
              <a:pathLst>
                <a:path h="1106805" w="1106805">
                  <a:moveTo>
                    <a:pt x="0" y="553339"/>
                  </a:moveTo>
                  <a:cubicBezTo>
                    <a:pt x="0" y="247777"/>
                    <a:pt x="247777" y="0"/>
                    <a:pt x="553339" y="0"/>
                  </a:cubicBezTo>
                  <a:cubicBezTo>
                    <a:pt x="858901" y="0"/>
                    <a:pt x="1106805" y="247777"/>
                    <a:pt x="1106805" y="553339"/>
                  </a:cubicBezTo>
                  <a:cubicBezTo>
                    <a:pt x="1106805" y="858901"/>
                    <a:pt x="859028" y="1106805"/>
                    <a:pt x="553339" y="1106805"/>
                  </a:cubicBezTo>
                  <a:cubicBezTo>
                    <a:pt x="247650" y="1106805"/>
                    <a:pt x="0" y="859028"/>
                    <a:pt x="0" y="553339"/>
                  </a:cubicBezTo>
                  <a:close/>
                </a:path>
              </a:pathLst>
            </a:custGeom>
            <a:solidFill>
              <a:srgbClr val="F7C948"/>
            </a:solidFill>
            <a:ln w="25400" cap="sq">
              <a:solidFill>
                <a:srgbClr val="F7C948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12600432" y="3072384"/>
            <a:ext cx="402336" cy="402336"/>
            <a:chOff x="0" y="0"/>
            <a:chExt cx="536448" cy="536448"/>
          </a:xfrm>
        </p:grpSpPr>
        <p:sp>
          <p:nvSpPr>
            <p:cNvPr name="Freeform 37" id="37" descr="preencoded.png"/>
            <p:cNvSpPr/>
            <p:nvPr/>
          </p:nvSpPr>
          <p:spPr>
            <a:xfrm flipH="false" flipV="false" rot="0">
              <a:off x="0" y="0"/>
              <a:ext cx="536448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">
                  <a:moveTo>
                    <a:pt x="0" y="0"/>
                  </a:moveTo>
                  <a:lnTo>
                    <a:pt x="536448" y="0"/>
                  </a:lnTo>
                  <a:lnTo>
                    <a:pt x="536448" y="536448"/>
                  </a:lnTo>
                  <a:lnTo>
                    <a:pt x="0" y="5364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3441680" y="2871216"/>
            <a:ext cx="3657600" cy="804672"/>
            <a:chOff x="0" y="0"/>
            <a:chExt cx="4876800" cy="107289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876800" cy="1072896"/>
            </a:xfrm>
            <a:custGeom>
              <a:avLst/>
              <a:gdLst/>
              <a:ahLst/>
              <a:cxnLst/>
              <a:rect r="r" b="b" t="t" l="l"/>
              <a:pathLst>
                <a:path h="1072896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568" r="0" b="-38568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9525"/>
              <a:ext cx="4876800" cy="10824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F2A1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Files never fetched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2399264" y="3840480"/>
            <a:ext cx="4663440" cy="1371600"/>
            <a:chOff x="0" y="0"/>
            <a:chExt cx="6217920" cy="18288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217920" cy="1828800"/>
            </a:xfrm>
            <a:custGeom>
              <a:avLst/>
              <a:gdLst/>
              <a:ahLst/>
              <a:cxnLst/>
              <a:rect r="r" b="b" t="t" l="l"/>
              <a:pathLst>
                <a:path h="182880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249" r="0" b="-16249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6217920" cy="1876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5B6B5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Content guard at five points: client, API entry, each redirect hop, each navigation, final response.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901703" y="5620007"/>
            <a:ext cx="5237483" cy="2768603"/>
            <a:chOff x="0" y="0"/>
            <a:chExt cx="6983311" cy="3691471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983222" cy="3691382"/>
            </a:xfrm>
            <a:custGeom>
              <a:avLst/>
              <a:gdLst/>
              <a:ahLst/>
              <a:cxnLst/>
              <a:rect r="r" b="b" t="t" l="l"/>
              <a:pathLst>
                <a:path h="3691382" w="6983222">
                  <a:moveTo>
                    <a:pt x="0" y="295275"/>
                  </a:moveTo>
                  <a:cubicBezTo>
                    <a:pt x="0" y="132207"/>
                    <a:pt x="132207" y="0"/>
                    <a:pt x="295275" y="0"/>
                  </a:cubicBezTo>
                  <a:lnTo>
                    <a:pt x="6687947" y="0"/>
                  </a:lnTo>
                  <a:cubicBezTo>
                    <a:pt x="6851015" y="0"/>
                    <a:pt x="6983222" y="132207"/>
                    <a:pt x="6983222" y="295275"/>
                  </a:cubicBezTo>
                  <a:lnTo>
                    <a:pt x="6983222" y="3396107"/>
                  </a:lnTo>
                  <a:cubicBezTo>
                    <a:pt x="6983222" y="3559175"/>
                    <a:pt x="6851015" y="3691382"/>
                    <a:pt x="6687947" y="3691382"/>
                  </a:cubicBezTo>
                  <a:lnTo>
                    <a:pt x="295275" y="3691382"/>
                  </a:lnTo>
                  <a:cubicBezTo>
                    <a:pt x="132207" y="3691509"/>
                    <a:pt x="0" y="3559302"/>
                    <a:pt x="0" y="3396107"/>
                  </a:cubicBezTo>
                  <a:close/>
                </a:path>
              </a:pathLst>
            </a:custGeom>
            <a:solidFill>
              <a:srgbClr val="F3F5EF"/>
            </a:solidFill>
            <a:ln w="25400" cap="sq">
              <a:solidFill>
                <a:srgbClr val="F3F5EF"/>
              </a:solidFill>
              <a:prstDash val="solid"/>
              <a:miter/>
            </a:ln>
          </p:spPr>
        </p:sp>
      </p:grpSp>
      <p:grpSp>
        <p:nvGrpSpPr>
          <p:cNvPr name="Group 46" id="46"/>
          <p:cNvGrpSpPr/>
          <p:nvPr/>
        </p:nvGrpSpPr>
        <p:grpSpPr>
          <a:xfrm rot="0">
            <a:off x="1230887" y="5930903"/>
            <a:ext cx="830075" cy="830075"/>
            <a:chOff x="0" y="0"/>
            <a:chExt cx="1106767" cy="1106767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106805" cy="1106805"/>
            </a:xfrm>
            <a:custGeom>
              <a:avLst/>
              <a:gdLst/>
              <a:ahLst/>
              <a:cxnLst/>
              <a:rect r="r" b="b" t="t" l="l"/>
              <a:pathLst>
                <a:path h="1106805" w="1106805">
                  <a:moveTo>
                    <a:pt x="0" y="553339"/>
                  </a:moveTo>
                  <a:cubicBezTo>
                    <a:pt x="0" y="247777"/>
                    <a:pt x="247777" y="0"/>
                    <a:pt x="553339" y="0"/>
                  </a:cubicBezTo>
                  <a:cubicBezTo>
                    <a:pt x="858901" y="0"/>
                    <a:pt x="1106805" y="247777"/>
                    <a:pt x="1106805" y="553339"/>
                  </a:cubicBezTo>
                  <a:cubicBezTo>
                    <a:pt x="1106805" y="858901"/>
                    <a:pt x="859028" y="1106805"/>
                    <a:pt x="553339" y="1106805"/>
                  </a:cubicBezTo>
                  <a:cubicBezTo>
                    <a:pt x="247650" y="1106805"/>
                    <a:pt x="0" y="859028"/>
                    <a:pt x="0" y="553339"/>
                  </a:cubicBezTo>
                  <a:close/>
                </a:path>
              </a:pathLst>
            </a:custGeom>
            <a:solidFill>
              <a:srgbClr val="F7C948"/>
            </a:solidFill>
            <a:ln w="25400" cap="sq">
              <a:solidFill>
                <a:srgbClr val="F7C948"/>
              </a:solidFill>
              <a:prstDash val="solid"/>
              <a:miter/>
            </a:ln>
          </p:spPr>
        </p:sp>
      </p:grpSp>
      <p:grpSp>
        <p:nvGrpSpPr>
          <p:cNvPr name="Group 48" id="48"/>
          <p:cNvGrpSpPr/>
          <p:nvPr/>
        </p:nvGrpSpPr>
        <p:grpSpPr>
          <a:xfrm rot="0">
            <a:off x="1444752" y="6144768"/>
            <a:ext cx="402336" cy="402336"/>
            <a:chOff x="0" y="0"/>
            <a:chExt cx="536448" cy="536448"/>
          </a:xfrm>
        </p:grpSpPr>
        <p:sp>
          <p:nvSpPr>
            <p:cNvPr name="Freeform 49" id="49" descr="preencoded.png"/>
            <p:cNvSpPr/>
            <p:nvPr/>
          </p:nvSpPr>
          <p:spPr>
            <a:xfrm flipH="false" flipV="false" rot="0">
              <a:off x="0" y="0"/>
              <a:ext cx="536448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">
                  <a:moveTo>
                    <a:pt x="0" y="0"/>
                  </a:moveTo>
                  <a:lnTo>
                    <a:pt x="536448" y="0"/>
                  </a:lnTo>
                  <a:lnTo>
                    <a:pt x="536448" y="536448"/>
                  </a:lnTo>
                  <a:lnTo>
                    <a:pt x="0" y="5364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2286000" y="5943600"/>
            <a:ext cx="3657600" cy="804672"/>
            <a:chOff x="0" y="0"/>
            <a:chExt cx="4876800" cy="1072896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4876800" cy="1072896"/>
            </a:xfrm>
            <a:custGeom>
              <a:avLst/>
              <a:gdLst/>
              <a:ahLst/>
              <a:cxnLst/>
              <a:rect r="r" b="b" t="t" l="l"/>
              <a:pathLst>
                <a:path h="1072896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568" r="0" b="-38568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9525"/>
              <a:ext cx="4876800" cy="10824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F2A1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XSS-safe rendering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243584" y="6912864"/>
            <a:ext cx="4663440" cy="1371600"/>
            <a:chOff x="0" y="0"/>
            <a:chExt cx="6217920" cy="18288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6217920" cy="1828800"/>
            </a:xfrm>
            <a:custGeom>
              <a:avLst/>
              <a:gdLst/>
              <a:ahLst/>
              <a:cxnLst/>
              <a:rect r="r" b="b" t="t" l="l"/>
              <a:pathLst>
                <a:path h="182880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249" r="0" b="-16249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47625"/>
              <a:ext cx="6217920" cy="1876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5B6B5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Attacker-written page titles and URLs render as text; a smoke test asserts it.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6479543" y="5620007"/>
            <a:ext cx="5237483" cy="2768603"/>
            <a:chOff x="0" y="0"/>
            <a:chExt cx="6983311" cy="3691471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6983222" cy="3691382"/>
            </a:xfrm>
            <a:custGeom>
              <a:avLst/>
              <a:gdLst/>
              <a:ahLst/>
              <a:cxnLst/>
              <a:rect r="r" b="b" t="t" l="l"/>
              <a:pathLst>
                <a:path h="3691382" w="6983222">
                  <a:moveTo>
                    <a:pt x="0" y="295275"/>
                  </a:moveTo>
                  <a:cubicBezTo>
                    <a:pt x="0" y="132207"/>
                    <a:pt x="132207" y="0"/>
                    <a:pt x="295275" y="0"/>
                  </a:cubicBezTo>
                  <a:lnTo>
                    <a:pt x="6687947" y="0"/>
                  </a:lnTo>
                  <a:cubicBezTo>
                    <a:pt x="6851015" y="0"/>
                    <a:pt x="6983222" y="132207"/>
                    <a:pt x="6983222" y="295275"/>
                  </a:cubicBezTo>
                  <a:lnTo>
                    <a:pt x="6983222" y="3396107"/>
                  </a:lnTo>
                  <a:cubicBezTo>
                    <a:pt x="6983222" y="3559175"/>
                    <a:pt x="6851015" y="3691382"/>
                    <a:pt x="6687947" y="3691382"/>
                  </a:cubicBezTo>
                  <a:lnTo>
                    <a:pt x="295275" y="3691382"/>
                  </a:lnTo>
                  <a:cubicBezTo>
                    <a:pt x="132207" y="3691509"/>
                    <a:pt x="0" y="3559302"/>
                    <a:pt x="0" y="3396107"/>
                  </a:cubicBezTo>
                  <a:close/>
                </a:path>
              </a:pathLst>
            </a:custGeom>
            <a:solidFill>
              <a:srgbClr val="F3F5EF"/>
            </a:solidFill>
            <a:ln w="25400" cap="sq">
              <a:solidFill>
                <a:srgbClr val="F3F5EF"/>
              </a:solidFill>
              <a:prstDash val="solid"/>
              <a:miter/>
            </a:ln>
          </p:spPr>
        </p:sp>
      </p:grpSp>
      <p:grpSp>
        <p:nvGrpSpPr>
          <p:cNvPr name="Group 58" id="58"/>
          <p:cNvGrpSpPr/>
          <p:nvPr/>
        </p:nvGrpSpPr>
        <p:grpSpPr>
          <a:xfrm rot="0">
            <a:off x="6808727" y="5930903"/>
            <a:ext cx="830075" cy="830075"/>
            <a:chOff x="0" y="0"/>
            <a:chExt cx="1106767" cy="1106767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106805" cy="1106805"/>
            </a:xfrm>
            <a:custGeom>
              <a:avLst/>
              <a:gdLst/>
              <a:ahLst/>
              <a:cxnLst/>
              <a:rect r="r" b="b" t="t" l="l"/>
              <a:pathLst>
                <a:path h="1106805" w="1106805">
                  <a:moveTo>
                    <a:pt x="0" y="553339"/>
                  </a:moveTo>
                  <a:cubicBezTo>
                    <a:pt x="0" y="247777"/>
                    <a:pt x="247777" y="0"/>
                    <a:pt x="553339" y="0"/>
                  </a:cubicBezTo>
                  <a:cubicBezTo>
                    <a:pt x="858901" y="0"/>
                    <a:pt x="1106805" y="247777"/>
                    <a:pt x="1106805" y="553339"/>
                  </a:cubicBezTo>
                  <a:cubicBezTo>
                    <a:pt x="1106805" y="858901"/>
                    <a:pt x="859028" y="1106805"/>
                    <a:pt x="553339" y="1106805"/>
                  </a:cubicBezTo>
                  <a:cubicBezTo>
                    <a:pt x="247650" y="1106805"/>
                    <a:pt x="0" y="859028"/>
                    <a:pt x="0" y="553339"/>
                  </a:cubicBezTo>
                  <a:close/>
                </a:path>
              </a:pathLst>
            </a:custGeom>
            <a:solidFill>
              <a:srgbClr val="F7C948"/>
            </a:solidFill>
            <a:ln w="25400" cap="sq">
              <a:solidFill>
                <a:srgbClr val="F7C948"/>
              </a:solidFill>
              <a:prstDash val="solid"/>
              <a:miter/>
            </a:ln>
          </p:spPr>
        </p:sp>
      </p:grpSp>
      <p:grpSp>
        <p:nvGrpSpPr>
          <p:cNvPr name="Group 60" id="60"/>
          <p:cNvGrpSpPr/>
          <p:nvPr/>
        </p:nvGrpSpPr>
        <p:grpSpPr>
          <a:xfrm rot="0">
            <a:off x="7022592" y="6144768"/>
            <a:ext cx="402336" cy="402336"/>
            <a:chOff x="0" y="0"/>
            <a:chExt cx="536448" cy="536448"/>
          </a:xfrm>
        </p:grpSpPr>
        <p:sp>
          <p:nvSpPr>
            <p:cNvPr name="Freeform 61" id="61" descr="preencoded.png"/>
            <p:cNvSpPr/>
            <p:nvPr/>
          </p:nvSpPr>
          <p:spPr>
            <a:xfrm flipH="false" flipV="false" rot="0">
              <a:off x="0" y="0"/>
              <a:ext cx="536448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">
                  <a:moveTo>
                    <a:pt x="0" y="0"/>
                  </a:moveTo>
                  <a:lnTo>
                    <a:pt x="536448" y="0"/>
                  </a:lnTo>
                  <a:lnTo>
                    <a:pt x="536448" y="536448"/>
                  </a:lnTo>
                  <a:lnTo>
                    <a:pt x="0" y="5364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7863840" y="5943600"/>
            <a:ext cx="3657600" cy="804672"/>
            <a:chOff x="0" y="0"/>
            <a:chExt cx="4876800" cy="1072896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4876800" cy="1072896"/>
            </a:xfrm>
            <a:custGeom>
              <a:avLst/>
              <a:gdLst/>
              <a:ahLst/>
              <a:cxnLst/>
              <a:rect r="r" b="b" t="t" l="l"/>
              <a:pathLst>
                <a:path h="1072896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568" r="0" b="-38568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9525"/>
              <a:ext cx="4876800" cy="10824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F2A1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Reports can't flip verdicts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6821424" y="6912864"/>
            <a:ext cx="4663440" cy="1371600"/>
            <a:chOff x="0" y="0"/>
            <a:chExt cx="6217920" cy="182880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6217920" cy="1828800"/>
            </a:xfrm>
            <a:custGeom>
              <a:avLst/>
              <a:gdLst/>
              <a:ahLst/>
              <a:cxnLst/>
              <a:rect r="r" b="b" t="t" l="l"/>
              <a:pathLst>
                <a:path h="182880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249" r="0" b="-16249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47625"/>
              <a:ext cx="6217920" cy="1876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5B6B5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False-positive reports are review-only, so a site owner can't talk a flag down.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2057383" y="5620007"/>
            <a:ext cx="5237483" cy="2768603"/>
            <a:chOff x="0" y="0"/>
            <a:chExt cx="6983311" cy="3691471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6983222" cy="3691382"/>
            </a:xfrm>
            <a:custGeom>
              <a:avLst/>
              <a:gdLst/>
              <a:ahLst/>
              <a:cxnLst/>
              <a:rect r="r" b="b" t="t" l="l"/>
              <a:pathLst>
                <a:path h="3691382" w="6983222">
                  <a:moveTo>
                    <a:pt x="0" y="295275"/>
                  </a:moveTo>
                  <a:cubicBezTo>
                    <a:pt x="0" y="132207"/>
                    <a:pt x="132207" y="0"/>
                    <a:pt x="295275" y="0"/>
                  </a:cubicBezTo>
                  <a:lnTo>
                    <a:pt x="6687947" y="0"/>
                  </a:lnTo>
                  <a:cubicBezTo>
                    <a:pt x="6851015" y="0"/>
                    <a:pt x="6983222" y="132207"/>
                    <a:pt x="6983222" y="295275"/>
                  </a:cubicBezTo>
                  <a:lnTo>
                    <a:pt x="6983222" y="3396107"/>
                  </a:lnTo>
                  <a:cubicBezTo>
                    <a:pt x="6983222" y="3559175"/>
                    <a:pt x="6851015" y="3691382"/>
                    <a:pt x="6687947" y="3691382"/>
                  </a:cubicBezTo>
                  <a:lnTo>
                    <a:pt x="295275" y="3691382"/>
                  </a:lnTo>
                  <a:cubicBezTo>
                    <a:pt x="132207" y="3691509"/>
                    <a:pt x="0" y="3559302"/>
                    <a:pt x="0" y="3396107"/>
                  </a:cubicBezTo>
                  <a:close/>
                </a:path>
              </a:pathLst>
            </a:custGeom>
            <a:solidFill>
              <a:srgbClr val="F3F5EF"/>
            </a:solidFill>
            <a:ln w="25400" cap="sq">
              <a:solidFill>
                <a:srgbClr val="F3F5EF"/>
              </a:solidFill>
              <a:prstDash val="solid"/>
              <a:miter/>
            </a:ln>
          </p:spPr>
        </p:sp>
      </p:grpSp>
      <p:grpSp>
        <p:nvGrpSpPr>
          <p:cNvPr name="Group 70" id="70"/>
          <p:cNvGrpSpPr/>
          <p:nvPr/>
        </p:nvGrpSpPr>
        <p:grpSpPr>
          <a:xfrm rot="0">
            <a:off x="12386567" y="5930903"/>
            <a:ext cx="830075" cy="830075"/>
            <a:chOff x="0" y="0"/>
            <a:chExt cx="1106767" cy="1106767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1106805" cy="1106805"/>
            </a:xfrm>
            <a:custGeom>
              <a:avLst/>
              <a:gdLst/>
              <a:ahLst/>
              <a:cxnLst/>
              <a:rect r="r" b="b" t="t" l="l"/>
              <a:pathLst>
                <a:path h="1106805" w="1106805">
                  <a:moveTo>
                    <a:pt x="0" y="553339"/>
                  </a:moveTo>
                  <a:cubicBezTo>
                    <a:pt x="0" y="247777"/>
                    <a:pt x="247777" y="0"/>
                    <a:pt x="553339" y="0"/>
                  </a:cubicBezTo>
                  <a:cubicBezTo>
                    <a:pt x="858901" y="0"/>
                    <a:pt x="1106805" y="247777"/>
                    <a:pt x="1106805" y="553339"/>
                  </a:cubicBezTo>
                  <a:cubicBezTo>
                    <a:pt x="1106805" y="858901"/>
                    <a:pt x="859028" y="1106805"/>
                    <a:pt x="553339" y="1106805"/>
                  </a:cubicBezTo>
                  <a:cubicBezTo>
                    <a:pt x="247650" y="1106805"/>
                    <a:pt x="0" y="859028"/>
                    <a:pt x="0" y="553339"/>
                  </a:cubicBezTo>
                  <a:close/>
                </a:path>
              </a:pathLst>
            </a:custGeom>
            <a:solidFill>
              <a:srgbClr val="F7C948"/>
            </a:solidFill>
            <a:ln w="25400" cap="sq">
              <a:solidFill>
                <a:srgbClr val="F7C948"/>
              </a:solidFill>
              <a:prstDash val="solid"/>
              <a:miter/>
            </a:ln>
          </p:spPr>
        </p:sp>
      </p:grpSp>
      <p:grpSp>
        <p:nvGrpSpPr>
          <p:cNvPr name="Group 72" id="72"/>
          <p:cNvGrpSpPr/>
          <p:nvPr/>
        </p:nvGrpSpPr>
        <p:grpSpPr>
          <a:xfrm rot="0">
            <a:off x="12600432" y="6144768"/>
            <a:ext cx="402336" cy="402336"/>
            <a:chOff x="0" y="0"/>
            <a:chExt cx="536448" cy="536448"/>
          </a:xfrm>
        </p:grpSpPr>
        <p:sp>
          <p:nvSpPr>
            <p:cNvPr name="Freeform 73" id="73" descr="preencoded.png"/>
            <p:cNvSpPr/>
            <p:nvPr/>
          </p:nvSpPr>
          <p:spPr>
            <a:xfrm flipH="false" flipV="false" rot="0">
              <a:off x="0" y="0"/>
              <a:ext cx="536448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">
                  <a:moveTo>
                    <a:pt x="0" y="0"/>
                  </a:moveTo>
                  <a:lnTo>
                    <a:pt x="536448" y="0"/>
                  </a:lnTo>
                  <a:lnTo>
                    <a:pt x="536448" y="536448"/>
                  </a:lnTo>
                  <a:lnTo>
                    <a:pt x="0" y="5364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13441680" y="5943600"/>
            <a:ext cx="3657600" cy="804672"/>
            <a:chOff x="0" y="0"/>
            <a:chExt cx="4876800" cy="1072896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4876800" cy="1072896"/>
            </a:xfrm>
            <a:custGeom>
              <a:avLst/>
              <a:gdLst/>
              <a:ahLst/>
              <a:cxnLst/>
              <a:rect r="r" b="b" t="t" l="l"/>
              <a:pathLst>
                <a:path h="1072896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568" r="0" b="-38568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9525"/>
              <a:ext cx="4876800" cy="10824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F2A1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Only the URL leaves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12399264" y="6912864"/>
            <a:ext cx="4663440" cy="1371600"/>
            <a:chOff x="0" y="0"/>
            <a:chExt cx="6217920" cy="182880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6217920" cy="1828800"/>
            </a:xfrm>
            <a:custGeom>
              <a:avLst/>
              <a:gdLst/>
              <a:ahLst/>
              <a:cxnLst/>
              <a:rect r="r" b="b" t="t" l="l"/>
              <a:pathLst>
                <a:path h="182880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249" r="0" b="-16249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47625"/>
              <a:ext cx="6217920" cy="1876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5B6B5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Fetched HTML stays on the server and never goes to the AI provider; query strings stripped from logs.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914400" y="8869680"/>
            <a:ext cx="16459200" cy="548640"/>
            <a:chOff x="0" y="0"/>
            <a:chExt cx="21945600" cy="73152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21945600" cy="731520"/>
            </a:xfrm>
            <a:custGeom>
              <a:avLst/>
              <a:gdLst/>
              <a:ahLst/>
              <a:cxnLst/>
              <a:rect r="r" b="b" t="t" l="l"/>
              <a:pathLst>
                <a:path h="7315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47625"/>
              <a:ext cx="219456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i="true">
                  <a:solidFill>
                    <a:srgbClr val="D9731A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Stated residual risks: no authentication or rate limiting yet; the shared archive makes scanned URLs visible to the operator.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11887200" y="9601200"/>
            <a:ext cx="5486400" cy="457200"/>
            <a:chOff x="0" y="0"/>
            <a:chExt cx="7315200" cy="60960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7315200" cy="609600"/>
            </a:xfrm>
            <a:custGeom>
              <a:avLst/>
              <a:gdLst/>
              <a:ahLst/>
              <a:cxnLst/>
              <a:rect r="r" b="b" t="t" l="l"/>
              <a:pathLst>
                <a:path h="60960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38100"/>
              <a:ext cx="73152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8A958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Phisang · HackNusa 2026   8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85216"/>
            <a:ext cx="16459200" cy="1097280"/>
            <a:chOff x="0" y="0"/>
            <a:chExt cx="2194560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194560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20"/>
                </a:lnSpc>
              </a:pPr>
              <a:r>
                <a:rPr lang="en-US" sz="5600" b="true">
                  <a:solidFill>
                    <a:srgbClr val="1F2A1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Scalability &amp; deployment readiness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1645920"/>
            <a:ext cx="16459200" cy="640080"/>
            <a:chOff x="0" y="0"/>
            <a:chExt cx="21945600" cy="8534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853440"/>
            </a:xfrm>
            <a:custGeom>
              <a:avLst/>
              <a:gdLst/>
              <a:ahLst/>
              <a:cxnLst/>
              <a:rect r="r" b="b" t="t" l="l"/>
              <a:pathLst>
                <a:path h="8534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1043" r="0" b="-451043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21945600" cy="9201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5B6B5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Load grows with distinct addresses, not with visits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01703" y="2547623"/>
            <a:ext cx="7889243" cy="1305563"/>
            <a:chOff x="0" y="0"/>
            <a:chExt cx="10518991" cy="174075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518901" cy="1740662"/>
            </a:xfrm>
            <a:custGeom>
              <a:avLst/>
              <a:gdLst/>
              <a:ahLst/>
              <a:cxnLst/>
              <a:rect r="r" b="b" t="t" l="l"/>
              <a:pathLst>
                <a:path h="1740662" w="10518901">
                  <a:moveTo>
                    <a:pt x="0" y="248666"/>
                  </a:moveTo>
                  <a:cubicBezTo>
                    <a:pt x="0" y="111379"/>
                    <a:pt x="111379" y="0"/>
                    <a:pt x="248666" y="0"/>
                  </a:cubicBezTo>
                  <a:lnTo>
                    <a:pt x="10270236" y="0"/>
                  </a:lnTo>
                  <a:cubicBezTo>
                    <a:pt x="10407523" y="0"/>
                    <a:pt x="10518901" y="111379"/>
                    <a:pt x="10518901" y="248666"/>
                  </a:cubicBezTo>
                  <a:lnTo>
                    <a:pt x="10518901" y="1491996"/>
                  </a:lnTo>
                  <a:cubicBezTo>
                    <a:pt x="10518901" y="1629283"/>
                    <a:pt x="10407523" y="1740662"/>
                    <a:pt x="10270236" y="1740662"/>
                  </a:cubicBezTo>
                  <a:lnTo>
                    <a:pt x="248666" y="1740662"/>
                  </a:lnTo>
                  <a:cubicBezTo>
                    <a:pt x="111379" y="1740789"/>
                    <a:pt x="0" y="1629410"/>
                    <a:pt x="0" y="1492123"/>
                  </a:cubicBezTo>
                  <a:close/>
                </a:path>
              </a:pathLst>
            </a:custGeom>
            <a:solidFill>
              <a:srgbClr val="467235"/>
            </a:solidFill>
            <a:ln w="25400" cap="sq">
              <a:solidFill>
                <a:srgbClr val="467235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914400" y="2560320"/>
            <a:ext cx="7863840" cy="1280160"/>
            <a:chOff x="0" y="0"/>
            <a:chExt cx="10485120" cy="17068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485120" cy="1706880"/>
            </a:xfrm>
            <a:custGeom>
              <a:avLst/>
              <a:gdLst/>
              <a:ahLst/>
              <a:cxnLst/>
              <a:rect r="r" b="b" t="t" l="l"/>
              <a:pathLst>
                <a:path h="170688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693" r="0" b="-69693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0485120" cy="17545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60"/>
                </a:lnSpc>
              </a:pPr>
              <a:r>
                <a:rPr lang="en-US" sz="23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Browser cache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Repeat visits to a host: zero requests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67463" y="4047239"/>
            <a:ext cx="7157723" cy="1305563"/>
            <a:chOff x="0" y="0"/>
            <a:chExt cx="9543631" cy="174075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543542" cy="1740662"/>
            </a:xfrm>
            <a:custGeom>
              <a:avLst/>
              <a:gdLst/>
              <a:ahLst/>
              <a:cxnLst/>
              <a:rect r="r" b="b" t="t" l="l"/>
              <a:pathLst>
                <a:path h="1740662" w="9543542">
                  <a:moveTo>
                    <a:pt x="0" y="248666"/>
                  </a:moveTo>
                  <a:cubicBezTo>
                    <a:pt x="0" y="111379"/>
                    <a:pt x="111379" y="0"/>
                    <a:pt x="248666" y="0"/>
                  </a:cubicBezTo>
                  <a:lnTo>
                    <a:pt x="9294876" y="0"/>
                  </a:lnTo>
                  <a:cubicBezTo>
                    <a:pt x="9432163" y="0"/>
                    <a:pt x="9543542" y="111379"/>
                    <a:pt x="9543542" y="248666"/>
                  </a:cubicBezTo>
                  <a:lnTo>
                    <a:pt x="9543542" y="1491996"/>
                  </a:lnTo>
                  <a:cubicBezTo>
                    <a:pt x="9543542" y="1629283"/>
                    <a:pt x="9432163" y="1740662"/>
                    <a:pt x="9294876" y="1740662"/>
                  </a:cubicBezTo>
                  <a:lnTo>
                    <a:pt x="248666" y="1740662"/>
                  </a:lnTo>
                  <a:cubicBezTo>
                    <a:pt x="111379" y="1740789"/>
                    <a:pt x="0" y="1629410"/>
                    <a:pt x="0" y="1492123"/>
                  </a:cubicBezTo>
                  <a:close/>
                </a:path>
              </a:pathLst>
            </a:custGeom>
            <a:solidFill>
              <a:srgbClr val="B7950B"/>
            </a:solidFill>
            <a:ln w="25400" cap="sq">
              <a:solidFill>
                <a:srgbClr val="B7950B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1280160" y="4059936"/>
            <a:ext cx="7132320" cy="1280160"/>
            <a:chOff x="0" y="0"/>
            <a:chExt cx="9509760" cy="170688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509760" cy="1706880"/>
            </a:xfrm>
            <a:custGeom>
              <a:avLst/>
              <a:gdLst/>
              <a:ahLst/>
              <a:cxnLst/>
              <a:rect r="r" b="b" t="t" l="l"/>
              <a:pathLst>
                <a:path h="170688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559" r="0" b="-58559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9509760" cy="17545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60"/>
                </a:lnSpc>
              </a:pPr>
              <a:r>
                <a:rPr lang="en-US" sz="23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Shared SQL archive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Later users reuse the first user's scan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633223" y="5546855"/>
            <a:ext cx="6426203" cy="1305563"/>
            <a:chOff x="0" y="0"/>
            <a:chExt cx="8568271" cy="174075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568182" cy="1740662"/>
            </a:xfrm>
            <a:custGeom>
              <a:avLst/>
              <a:gdLst/>
              <a:ahLst/>
              <a:cxnLst/>
              <a:rect r="r" b="b" t="t" l="l"/>
              <a:pathLst>
                <a:path h="1740662" w="8568182">
                  <a:moveTo>
                    <a:pt x="0" y="248666"/>
                  </a:moveTo>
                  <a:cubicBezTo>
                    <a:pt x="0" y="111379"/>
                    <a:pt x="111379" y="0"/>
                    <a:pt x="248666" y="0"/>
                  </a:cubicBezTo>
                  <a:lnTo>
                    <a:pt x="8319516" y="0"/>
                  </a:lnTo>
                  <a:cubicBezTo>
                    <a:pt x="8456803" y="0"/>
                    <a:pt x="8568182" y="111379"/>
                    <a:pt x="8568182" y="248666"/>
                  </a:cubicBezTo>
                  <a:lnTo>
                    <a:pt x="8568182" y="1491996"/>
                  </a:lnTo>
                  <a:cubicBezTo>
                    <a:pt x="8568182" y="1629283"/>
                    <a:pt x="8456803" y="1740662"/>
                    <a:pt x="8319516" y="1740662"/>
                  </a:cubicBezTo>
                  <a:lnTo>
                    <a:pt x="248666" y="1740662"/>
                  </a:lnTo>
                  <a:cubicBezTo>
                    <a:pt x="111379" y="1740789"/>
                    <a:pt x="0" y="1629410"/>
                    <a:pt x="0" y="1492123"/>
                  </a:cubicBezTo>
                  <a:close/>
                </a:path>
              </a:pathLst>
            </a:custGeom>
            <a:solidFill>
              <a:srgbClr val="D9731A"/>
            </a:solidFill>
            <a:ln w="25400" cap="sq">
              <a:solidFill>
                <a:srgbClr val="D9731A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1645920" y="5559552"/>
            <a:ext cx="6400800" cy="1280160"/>
            <a:chOff x="0" y="0"/>
            <a:chExt cx="8534400" cy="17068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5344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8534400" cy="17545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60"/>
                </a:lnSpc>
              </a:pPr>
              <a:r>
                <a:rPr lang="en-US" sz="23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Threat-feed cache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URLhaus answers cached in SQL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998983" y="7046471"/>
            <a:ext cx="5694683" cy="1305563"/>
            <a:chOff x="0" y="0"/>
            <a:chExt cx="7592911" cy="174075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592822" cy="1740662"/>
            </a:xfrm>
            <a:custGeom>
              <a:avLst/>
              <a:gdLst/>
              <a:ahLst/>
              <a:cxnLst/>
              <a:rect r="r" b="b" t="t" l="l"/>
              <a:pathLst>
                <a:path h="1740662" w="7592822">
                  <a:moveTo>
                    <a:pt x="0" y="248666"/>
                  </a:moveTo>
                  <a:cubicBezTo>
                    <a:pt x="0" y="111379"/>
                    <a:pt x="111379" y="0"/>
                    <a:pt x="248666" y="0"/>
                  </a:cubicBezTo>
                  <a:lnTo>
                    <a:pt x="7344156" y="0"/>
                  </a:lnTo>
                  <a:cubicBezTo>
                    <a:pt x="7481443" y="0"/>
                    <a:pt x="7592822" y="111379"/>
                    <a:pt x="7592822" y="248666"/>
                  </a:cubicBezTo>
                  <a:lnTo>
                    <a:pt x="7592822" y="1491996"/>
                  </a:lnTo>
                  <a:cubicBezTo>
                    <a:pt x="7592822" y="1629283"/>
                    <a:pt x="7481443" y="1740662"/>
                    <a:pt x="7344156" y="1740662"/>
                  </a:cubicBezTo>
                  <a:lnTo>
                    <a:pt x="248666" y="1740662"/>
                  </a:lnTo>
                  <a:cubicBezTo>
                    <a:pt x="111379" y="1740789"/>
                    <a:pt x="0" y="1629410"/>
                    <a:pt x="0" y="1492123"/>
                  </a:cubicBezTo>
                  <a:close/>
                </a:path>
              </a:pathLst>
            </a:custGeom>
            <a:solidFill>
              <a:srgbClr val="C0392B"/>
            </a:solidFill>
            <a:ln w="25400" cap="sq">
              <a:solidFill>
                <a:srgbClr val="C0392B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2011680" y="7059168"/>
            <a:ext cx="5669280" cy="1280160"/>
            <a:chOff x="0" y="0"/>
            <a:chExt cx="7559040" cy="170688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559040" cy="1706880"/>
            </a:xfrm>
            <a:custGeom>
              <a:avLst/>
              <a:gdLst/>
              <a:ahLst/>
              <a:cxnLst/>
              <a:rect r="r" b="b" t="t" l="l"/>
              <a:pathLst>
                <a:path h="170688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290" r="0" b="-3629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7559040" cy="17545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60"/>
                </a:lnSpc>
              </a:pPr>
              <a:r>
                <a:rPr lang="en-US" sz="23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Page fetch + model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Only the first visit to a new address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9497063" y="2547623"/>
            <a:ext cx="2457707" cy="1762763"/>
            <a:chOff x="0" y="0"/>
            <a:chExt cx="3276943" cy="2350351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276981" cy="2350389"/>
            </a:xfrm>
            <a:custGeom>
              <a:avLst/>
              <a:gdLst/>
              <a:ahLst/>
              <a:cxnLst/>
              <a:rect r="r" b="b" t="t" l="l"/>
              <a:pathLst>
                <a:path h="2350389" w="3276981">
                  <a:moveTo>
                    <a:pt x="0" y="296926"/>
                  </a:moveTo>
                  <a:cubicBezTo>
                    <a:pt x="0" y="132969"/>
                    <a:pt x="132969" y="0"/>
                    <a:pt x="296926" y="0"/>
                  </a:cubicBezTo>
                  <a:lnTo>
                    <a:pt x="2980055" y="0"/>
                  </a:lnTo>
                  <a:cubicBezTo>
                    <a:pt x="3144012" y="0"/>
                    <a:pt x="3276981" y="132969"/>
                    <a:pt x="3276981" y="296926"/>
                  </a:cubicBezTo>
                  <a:lnTo>
                    <a:pt x="3276981" y="2053463"/>
                  </a:lnTo>
                  <a:cubicBezTo>
                    <a:pt x="3276981" y="2217420"/>
                    <a:pt x="3144012" y="2350389"/>
                    <a:pt x="2980055" y="2350389"/>
                  </a:cubicBezTo>
                  <a:lnTo>
                    <a:pt x="296926" y="2350389"/>
                  </a:lnTo>
                  <a:cubicBezTo>
                    <a:pt x="132969" y="2350389"/>
                    <a:pt x="0" y="2217420"/>
                    <a:pt x="0" y="2053463"/>
                  </a:cubicBezTo>
                  <a:close/>
                </a:path>
              </a:pathLst>
            </a:custGeom>
            <a:solidFill>
              <a:srgbClr val="E3F0DC"/>
            </a:solidFill>
            <a:ln w="25400" cap="sq">
              <a:solidFill>
                <a:srgbClr val="E3F0DC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9509760" y="2651760"/>
            <a:ext cx="2432304" cy="914400"/>
            <a:chOff x="0" y="0"/>
            <a:chExt cx="3243072" cy="12192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243072" cy="1219200"/>
            </a:xfrm>
            <a:custGeom>
              <a:avLst/>
              <a:gdLst/>
              <a:ahLst/>
              <a:cxnLst/>
              <a:rect r="r" b="b" t="t" l="l"/>
              <a:pathLst>
                <a:path h="1219200" w="3243072">
                  <a:moveTo>
                    <a:pt x="0" y="0"/>
                  </a:moveTo>
                  <a:lnTo>
                    <a:pt x="3243072" y="0"/>
                  </a:lnTo>
                  <a:lnTo>
                    <a:pt x="3243072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0" r="0" b="-183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28575"/>
              <a:ext cx="3243072" cy="1247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1F2A1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0.44 s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9509760" y="3529584"/>
            <a:ext cx="2432304" cy="548640"/>
            <a:chOff x="0" y="0"/>
            <a:chExt cx="3243072" cy="73152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243072" cy="731520"/>
            </a:xfrm>
            <a:custGeom>
              <a:avLst/>
              <a:gdLst/>
              <a:ahLst/>
              <a:cxnLst/>
              <a:rect r="r" b="b" t="t" l="l"/>
              <a:pathLst>
                <a:path h="731520" w="3243072">
                  <a:moveTo>
                    <a:pt x="0" y="0"/>
                  </a:moveTo>
                  <a:lnTo>
                    <a:pt x="3243072" y="0"/>
                  </a:lnTo>
                  <a:lnTo>
                    <a:pt x="3243072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383" r="0" b="-36383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3243072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79"/>
                </a:lnSpc>
              </a:pPr>
              <a:r>
                <a:rPr lang="en-US" sz="1899">
                  <a:solidFill>
                    <a:srgbClr val="5B6B5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inference / page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2185399" y="2547623"/>
            <a:ext cx="2457707" cy="1762763"/>
            <a:chOff x="0" y="0"/>
            <a:chExt cx="3276943" cy="2350351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3276981" cy="2350389"/>
            </a:xfrm>
            <a:custGeom>
              <a:avLst/>
              <a:gdLst/>
              <a:ahLst/>
              <a:cxnLst/>
              <a:rect r="r" b="b" t="t" l="l"/>
              <a:pathLst>
                <a:path h="2350389" w="3276981">
                  <a:moveTo>
                    <a:pt x="0" y="296926"/>
                  </a:moveTo>
                  <a:cubicBezTo>
                    <a:pt x="0" y="132969"/>
                    <a:pt x="132969" y="0"/>
                    <a:pt x="296926" y="0"/>
                  </a:cubicBezTo>
                  <a:lnTo>
                    <a:pt x="2980055" y="0"/>
                  </a:lnTo>
                  <a:cubicBezTo>
                    <a:pt x="3144012" y="0"/>
                    <a:pt x="3276981" y="132969"/>
                    <a:pt x="3276981" y="296926"/>
                  </a:cubicBezTo>
                  <a:lnTo>
                    <a:pt x="3276981" y="2053463"/>
                  </a:lnTo>
                  <a:cubicBezTo>
                    <a:pt x="3276981" y="2217420"/>
                    <a:pt x="3144012" y="2350389"/>
                    <a:pt x="2980055" y="2350389"/>
                  </a:cubicBezTo>
                  <a:lnTo>
                    <a:pt x="296926" y="2350389"/>
                  </a:lnTo>
                  <a:cubicBezTo>
                    <a:pt x="132969" y="2350389"/>
                    <a:pt x="0" y="2217420"/>
                    <a:pt x="0" y="2053463"/>
                  </a:cubicBezTo>
                  <a:close/>
                </a:path>
              </a:pathLst>
            </a:custGeom>
            <a:solidFill>
              <a:srgbClr val="E3F0DC"/>
            </a:solidFill>
            <a:ln w="25400" cap="sq">
              <a:solidFill>
                <a:srgbClr val="E3F0DC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12198096" y="2651760"/>
            <a:ext cx="2432304" cy="914400"/>
            <a:chOff x="0" y="0"/>
            <a:chExt cx="3243072" cy="12192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3243072" cy="1219200"/>
            </a:xfrm>
            <a:custGeom>
              <a:avLst/>
              <a:gdLst/>
              <a:ahLst/>
              <a:cxnLst/>
              <a:rect r="r" b="b" t="t" l="l"/>
              <a:pathLst>
                <a:path h="1219200" w="3243072">
                  <a:moveTo>
                    <a:pt x="0" y="0"/>
                  </a:moveTo>
                  <a:lnTo>
                    <a:pt x="3243072" y="0"/>
                  </a:lnTo>
                  <a:lnTo>
                    <a:pt x="3243072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0" r="0" b="-183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28575"/>
              <a:ext cx="3243072" cy="1247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1F2A1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1.6 s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2198096" y="3529584"/>
            <a:ext cx="2432304" cy="548640"/>
            <a:chOff x="0" y="0"/>
            <a:chExt cx="3243072" cy="73152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3243072" cy="731520"/>
            </a:xfrm>
            <a:custGeom>
              <a:avLst/>
              <a:gdLst/>
              <a:ahLst/>
              <a:cxnLst/>
              <a:rect r="r" b="b" t="t" l="l"/>
              <a:pathLst>
                <a:path h="731520" w="3243072">
                  <a:moveTo>
                    <a:pt x="0" y="0"/>
                  </a:moveTo>
                  <a:lnTo>
                    <a:pt x="3243072" y="0"/>
                  </a:lnTo>
                  <a:lnTo>
                    <a:pt x="3243072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383" r="0" b="-36383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3243072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79"/>
                </a:lnSpc>
              </a:pPr>
              <a:r>
                <a:rPr lang="en-US" sz="1899">
                  <a:solidFill>
                    <a:srgbClr val="5B6B5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model load, once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4873735" y="2547623"/>
            <a:ext cx="2457707" cy="1762763"/>
            <a:chOff x="0" y="0"/>
            <a:chExt cx="3276943" cy="2350351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3276981" cy="2350389"/>
            </a:xfrm>
            <a:custGeom>
              <a:avLst/>
              <a:gdLst/>
              <a:ahLst/>
              <a:cxnLst/>
              <a:rect r="r" b="b" t="t" l="l"/>
              <a:pathLst>
                <a:path h="2350389" w="3276981">
                  <a:moveTo>
                    <a:pt x="0" y="296926"/>
                  </a:moveTo>
                  <a:cubicBezTo>
                    <a:pt x="0" y="132969"/>
                    <a:pt x="132969" y="0"/>
                    <a:pt x="296926" y="0"/>
                  </a:cubicBezTo>
                  <a:lnTo>
                    <a:pt x="2980055" y="0"/>
                  </a:lnTo>
                  <a:cubicBezTo>
                    <a:pt x="3144012" y="0"/>
                    <a:pt x="3276981" y="132969"/>
                    <a:pt x="3276981" y="296926"/>
                  </a:cubicBezTo>
                  <a:lnTo>
                    <a:pt x="3276981" y="2053463"/>
                  </a:lnTo>
                  <a:cubicBezTo>
                    <a:pt x="3276981" y="2217420"/>
                    <a:pt x="3144012" y="2350389"/>
                    <a:pt x="2980055" y="2350389"/>
                  </a:cubicBezTo>
                  <a:lnTo>
                    <a:pt x="296926" y="2350389"/>
                  </a:lnTo>
                  <a:cubicBezTo>
                    <a:pt x="132969" y="2350389"/>
                    <a:pt x="0" y="2217420"/>
                    <a:pt x="0" y="2053463"/>
                  </a:cubicBezTo>
                  <a:close/>
                </a:path>
              </a:pathLst>
            </a:custGeom>
            <a:solidFill>
              <a:srgbClr val="E3F0DC"/>
            </a:solidFill>
            <a:ln w="25400" cap="sq">
              <a:solidFill>
                <a:srgbClr val="E3F0DC"/>
              </a:solidFill>
              <a:prstDash val="solid"/>
              <a:miter/>
            </a:ln>
          </p:spPr>
        </p:sp>
      </p:grpSp>
      <p:grpSp>
        <p:nvGrpSpPr>
          <p:cNvPr name="Group 46" id="46"/>
          <p:cNvGrpSpPr/>
          <p:nvPr/>
        </p:nvGrpSpPr>
        <p:grpSpPr>
          <a:xfrm rot="0">
            <a:off x="14886432" y="2651760"/>
            <a:ext cx="2432304" cy="914400"/>
            <a:chOff x="0" y="0"/>
            <a:chExt cx="3243072" cy="12192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3243072" cy="1219200"/>
            </a:xfrm>
            <a:custGeom>
              <a:avLst/>
              <a:gdLst/>
              <a:ahLst/>
              <a:cxnLst/>
              <a:rect r="r" b="b" t="t" l="l"/>
              <a:pathLst>
                <a:path h="1219200" w="3243072">
                  <a:moveTo>
                    <a:pt x="0" y="0"/>
                  </a:moveTo>
                  <a:lnTo>
                    <a:pt x="3243072" y="0"/>
                  </a:lnTo>
                  <a:lnTo>
                    <a:pt x="3243072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0" r="0" b="-183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28575"/>
              <a:ext cx="3243072" cy="1247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1F2A1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45 s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4886432" y="3529584"/>
            <a:ext cx="2432304" cy="548640"/>
            <a:chOff x="0" y="0"/>
            <a:chExt cx="3243072" cy="73152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3243072" cy="731520"/>
            </a:xfrm>
            <a:custGeom>
              <a:avLst/>
              <a:gdLst/>
              <a:ahLst/>
              <a:cxnLst/>
              <a:rect r="r" b="b" t="t" l="l"/>
              <a:pathLst>
                <a:path h="731520" w="3243072">
                  <a:moveTo>
                    <a:pt x="0" y="0"/>
                  </a:moveTo>
                  <a:lnTo>
                    <a:pt x="3243072" y="0"/>
                  </a:lnTo>
                  <a:lnTo>
                    <a:pt x="3243072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383" r="0" b="-36383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3243072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79"/>
                </a:lnSpc>
              </a:pPr>
              <a:r>
                <a:rPr lang="en-US" sz="1899">
                  <a:solidFill>
                    <a:srgbClr val="5B6B5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fetch budget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9509760" y="4572000"/>
            <a:ext cx="7863840" cy="1097280"/>
            <a:chOff x="0" y="0"/>
            <a:chExt cx="10485120" cy="146304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04851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642" r="0" b="-89642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47625"/>
              <a:ext cx="10485120" cy="15106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5B6B5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Live today: HTTPS reverse proxy, hardened systemd unit, SQL Server persistence. The binding constraint is the Chromium fetch, not the model.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9509760" y="5760720"/>
            <a:ext cx="7863840" cy="548640"/>
            <a:chOff x="0" y="0"/>
            <a:chExt cx="10485120" cy="73152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0485120" cy="731520"/>
            </a:xfrm>
            <a:custGeom>
              <a:avLst/>
              <a:gdLst/>
              <a:ahLst/>
              <a:cxnLst/>
              <a:rect r="r" b="b" t="t" l="l"/>
              <a:pathLst>
                <a:path h="73152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9285" r="0" b="-229285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19050"/>
              <a:ext cx="1048512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F2A1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Scaling path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9497063" y="6479543"/>
            <a:ext cx="647195" cy="647195"/>
            <a:chOff x="0" y="0"/>
            <a:chExt cx="862927" cy="862927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862965" cy="862965"/>
            </a:xfrm>
            <a:custGeom>
              <a:avLst/>
              <a:gdLst/>
              <a:ahLst/>
              <a:cxnLst/>
              <a:rect r="r" b="b" t="t" l="l"/>
              <a:pathLst>
                <a:path h="862965" w="862965">
                  <a:moveTo>
                    <a:pt x="0" y="431419"/>
                  </a:moveTo>
                  <a:cubicBezTo>
                    <a:pt x="0" y="193167"/>
                    <a:pt x="193167" y="0"/>
                    <a:pt x="431419" y="0"/>
                  </a:cubicBezTo>
                  <a:cubicBezTo>
                    <a:pt x="669671" y="0"/>
                    <a:pt x="862965" y="193167"/>
                    <a:pt x="862965" y="431419"/>
                  </a:cubicBezTo>
                  <a:cubicBezTo>
                    <a:pt x="862965" y="669671"/>
                    <a:pt x="669798" y="862965"/>
                    <a:pt x="431419" y="862965"/>
                  </a:cubicBezTo>
                  <a:cubicBezTo>
                    <a:pt x="193040" y="862965"/>
                    <a:pt x="0" y="669798"/>
                    <a:pt x="0" y="431419"/>
                  </a:cubicBezTo>
                  <a:close/>
                </a:path>
              </a:pathLst>
            </a:custGeom>
            <a:solidFill>
              <a:srgbClr val="F7C948"/>
            </a:solidFill>
            <a:ln w="25400" cap="sq">
              <a:solidFill>
                <a:srgbClr val="F7C948"/>
              </a:solidFill>
              <a:prstDash val="solid"/>
              <a:miter/>
            </a:ln>
          </p:spPr>
        </p:sp>
      </p:grpSp>
      <p:grpSp>
        <p:nvGrpSpPr>
          <p:cNvPr name="Group 60" id="60"/>
          <p:cNvGrpSpPr/>
          <p:nvPr/>
        </p:nvGrpSpPr>
        <p:grpSpPr>
          <a:xfrm rot="0">
            <a:off x="9509760" y="6492240"/>
            <a:ext cx="621792" cy="621792"/>
            <a:chOff x="0" y="0"/>
            <a:chExt cx="829056" cy="829056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19050"/>
              <a:ext cx="829056" cy="8481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39"/>
                </a:lnSpc>
              </a:pPr>
              <a:r>
                <a:rPr lang="en-US" sz="2199" b="true">
                  <a:solidFill>
                    <a:srgbClr val="1B261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10332720" y="6492240"/>
            <a:ext cx="7040880" cy="621792"/>
            <a:chOff x="0" y="0"/>
            <a:chExt cx="9387840" cy="829056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9387840" cy="829056"/>
            </a:xfrm>
            <a:custGeom>
              <a:avLst/>
              <a:gdLst/>
              <a:ahLst/>
              <a:cxnLst/>
              <a:rect r="r" b="b" t="t" l="l"/>
              <a:pathLst>
                <a:path h="829056" w="9387840">
                  <a:moveTo>
                    <a:pt x="0" y="0"/>
                  </a:moveTo>
                  <a:lnTo>
                    <a:pt x="9387840" y="0"/>
                  </a:lnTo>
                  <a:lnTo>
                    <a:pt x="938784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0639" r="0" b="-170639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47625"/>
              <a:ext cx="9387840" cy="8766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1F2A1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Add API replicas, raise fetch concurrency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9497063" y="7393943"/>
            <a:ext cx="647195" cy="647195"/>
            <a:chOff x="0" y="0"/>
            <a:chExt cx="862927" cy="862927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862965" cy="862965"/>
            </a:xfrm>
            <a:custGeom>
              <a:avLst/>
              <a:gdLst/>
              <a:ahLst/>
              <a:cxnLst/>
              <a:rect r="r" b="b" t="t" l="l"/>
              <a:pathLst>
                <a:path h="862965" w="862965">
                  <a:moveTo>
                    <a:pt x="0" y="431419"/>
                  </a:moveTo>
                  <a:cubicBezTo>
                    <a:pt x="0" y="193167"/>
                    <a:pt x="193167" y="0"/>
                    <a:pt x="431419" y="0"/>
                  </a:cubicBezTo>
                  <a:cubicBezTo>
                    <a:pt x="669671" y="0"/>
                    <a:pt x="862965" y="193167"/>
                    <a:pt x="862965" y="431419"/>
                  </a:cubicBezTo>
                  <a:cubicBezTo>
                    <a:pt x="862965" y="669671"/>
                    <a:pt x="669798" y="862965"/>
                    <a:pt x="431419" y="862965"/>
                  </a:cubicBezTo>
                  <a:cubicBezTo>
                    <a:pt x="193040" y="862965"/>
                    <a:pt x="0" y="669798"/>
                    <a:pt x="0" y="431419"/>
                  </a:cubicBezTo>
                  <a:close/>
                </a:path>
              </a:pathLst>
            </a:custGeom>
            <a:solidFill>
              <a:srgbClr val="F7C948"/>
            </a:solidFill>
            <a:ln w="25400" cap="sq">
              <a:solidFill>
                <a:srgbClr val="F7C948"/>
              </a:solidFill>
              <a:prstDash val="solid"/>
              <a:miter/>
            </a:ln>
          </p:spPr>
        </p:sp>
      </p:grpSp>
      <p:grpSp>
        <p:nvGrpSpPr>
          <p:cNvPr name="Group 68" id="68"/>
          <p:cNvGrpSpPr/>
          <p:nvPr/>
        </p:nvGrpSpPr>
        <p:grpSpPr>
          <a:xfrm rot="0">
            <a:off x="9509760" y="7406640"/>
            <a:ext cx="621792" cy="621792"/>
            <a:chOff x="0" y="0"/>
            <a:chExt cx="829056" cy="829056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19050"/>
              <a:ext cx="829056" cy="8481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39"/>
                </a:lnSpc>
              </a:pPr>
              <a:r>
                <a:rPr lang="en-US" sz="2199" b="true">
                  <a:solidFill>
                    <a:srgbClr val="1B261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0332720" y="7406640"/>
            <a:ext cx="7040880" cy="621792"/>
            <a:chOff x="0" y="0"/>
            <a:chExt cx="9387840" cy="829056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9387840" cy="829056"/>
            </a:xfrm>
            <a:custGeom>
              <a:avLst/>
              <a:gdLst/>
              <a:ahLst/>
              <a:cxnLst/>
              <a:rect r="r" b="b" t="t" l="l"/>
              <a:pathLst>
                <a:path h="829056" w="9387840">
                  <a:moveTo>
                    <a:pt x="0" y="0"/>
                  </a:moveTo>
                  <a:lnTo>
                    <a:pt x="9387840" y="0"/>
                  </a:lnTo>
                  <a:lnTo>
                    <a:pt x="938784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0639" r="0" b="-170639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47625"/>
              <a:ext cx="9387840" cy="8766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1F2A1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Move the model into its own service, GPU-ready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9497063" y="8308343"/>
            <a:ext cx="647195" cy="647195"/>
            <a:chOff x="0" y="0"/>
            <a:chExt cx="862927" cy="862927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862965" cy="862965"/>
            </a:xfrm>
            <a:custGeom>
              <a:avLst/>
              <a:gdLst/>
              <a:ahLst/>
              <a:cxnLst/>
              <a:rect r="r" b="b" t="t" l="l"/>
              <a:pathLst>
                <a:path h="862965" w="862965">
                  <a:moveTo>
                    <a:pt x="0" y="431419"/>
                  </a:moveTo>
                  <a:cubicBezTo>
                    <a:pt x="0" y="193167"/>
                    <a:pt x="193167" y="0"/>
                    <a:pt x="431419" y="0"/>
                  </a:cubicBezTo>
                  <a:cubicBezTo>
                    <a:pt x="669671" y="0"/>
                    <a:pt x="862965" y="193167"/>
                    <a:pt x="862965" y="431419"/>
                  </a:cubicBezTo>
                  <a:cubicBezTo>
                    <a:pt x="862965" y="669671"/>
                    <a:pt x="669798" y="862965"/>
                    <a:pt x="431419" y="862965"/>
                  </a:cubicBezTo>
                  <a:cubicBezTo>
                    <a:pt x="193040" y="862965"/>
                    <a:pt x="0" y="669798"/>
                    <a:pt x="0" y="431419"/>
                  </a:cubicBezTo>
                  <a:close/>
                </a:path>
              </a:pathLst>
            </a:custGeom>
            <a:solidFill>
              <a:srgbClr val="F7C948"/>
            </a:solidFill>
            <a:ln w="25400" cap="sq">
              <a:solidFill>
                <a:srgbClr val="F7C948"/>
              </a:solidFill>
              <a:prstDash val="solid"/>
              <a:miter/>
            </a:ln>
          </p:spPr>
        </p:sp>
      </p:grpSp>
      <p:grpSp>
        <p:nvGrpSpPr>
          <p:cNvPr name="Group 76" id="76"/>
          <p:cNvGrpSpPr/>
          <p:nvPr/>
        </p:nvGrpSpPr>
        <p:grpSpPr>
          <a:xfrm rot="0">
            <a:off x="9509760" y="8321040"/>
            <a:ext cx="621792" cy="621792"/>
            <a:chOff x="0" y="0"/>
            <a:chExt cx="829056" cy="829056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19050"/>
              <a:ext cx="829056" cy="8481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39"/>
                </a:lnSpc>
              </a:pPr>
              <a:r>
                <a:rPr lang="en-US" sz="2199" b="true">
                  <a:solidFill>
                    <a:srgbClr val="1B261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3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10332720" y="8321040"/>
            <a:ext cx="7040880" cy="621792"/>
            <a:chOff x="0" y="0"/>
            <a:chExt cx="9387840" cy="829056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9387840" cy="829056"/>
            </a:xfrm>
            <a:custGeom>
              <a:avLst/>
              <a:gdLst/>
              <a:ahLst/>
              <a:cxnLst/>
              <a:rect r="r" b="b" t="t" l="l"/>
              <a:pathLst>
                <a:path h="829056" w="9387840">
                  <a:moveTo>
                    <a:pt x="0" y="0"/>
                  </a:moveTo>
                  <a:lnTo>
                    <a:pt x="9387840" y="0"/>
                  </a:lnTo>
                  <a:lnTo>
                    <a:pt x="938784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0639" r="0" b="-170639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47625"/>
              <a:ext cx="9387840" cy="8766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1F2A1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Read replica + signed clean-list at the edge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11887200" y="9601200"/>
            <a:ext cx="5486400" cy="457200"/>
            <a:chOff x="0" y="0"/>
            <a:chExt cx="7315200" cy="60960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7315200" cy="609600"/>
            </a:xfrm>
            <a:custGeom>
              <a:avLst/>
              <a:gdLst/>
              <a:ahLst/>
              <a:cxnLst/>
              <a:rect r="r" b="b" t="t" l="l"/>
              <a:pathLst>
                <a:path h="60960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38100"/>
              <a:ext cx="73152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8A958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Phisang · HackNusa 2026   9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85216"/>
            <a:ext cx="16459200" cy="1097280"/>
            <a:chOff x="0" y="0"/>
            <a:chExt cx="2194560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194560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20"/>
                </a:lnSpc>
              </a:pPr>
              <a:r>
                <a:rPr lang="en-US" sz="5600" b="true">
                  <a:solidFill>
                    <a:srgbClr val="1F2A1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Impact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1645920"/>
            <a:ext cx="16459200" cy="640080"/>
            <a:chOff x="0" y="0"/>
            <a:chExt cx="21945600" cy="8534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853440"/>
            </a:xfrm>
            <a:custGeom>
              <a:avLst/>
              <a:gdLst/>
              <a:ahLst/>
              <a:cxnLst/>
              <a:rect r="r" b="b" t="t" l="l"/>
              <a:pathLst>
                <a:path h="8534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1043" r="0" b="-451043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21945600" cy="9201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5B6B5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Who is protected, and how it reaches them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01703" y="2821943"/>
            <a:ext cx="1214123" cy="1214123"/>
            <a:chOff x="0" y="0"/>
            <a:chExt cx="1618831" cy="161883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618742" cy="1618742"/>
            </a:xfrm>
            <a:custGeom>
              <a:avLst/>
              <a:gdLst/>
              <a:ahLst/>
              <a:cxnLst/>
              <a:rect r="r" b="b" t="t" l="l"/>
              <a:pathLst>
                <a:path h="1618742" w="1618742">
                  <a:moveTo>
                    <a:pt x="0" y="809371"/>
                  </a:moveTo>
                  <a:cubicBezTo>
                    <a:pt x="0" y="362331"/>
                    <a:pt x="362331" y="0"/>
                    <a:pt x="809371" y="0"/>
                  </a:cubicBezTo>
                  <a:cubicBezTo>
                    <a:pt x="1256411" y="0"/>
                    <a:pt x="1618742" y="362331"/>
                    <a:pt x="1618742" y="809371"/>
                  </a:cubicBezTo>
                  <a:cubicBezTo>
                    <a:pt x="1618742" y="1256411"/>
                    <a:pt x="1256411" y="1618742"/>
                    <a:pt x="809371" y="1618742"/>
                  </a:cubicBezTo>
                  <a:cubicBezTo>
                    <a:pt x="362331" y="1618742"/>
                    <a:pt x="0" y="1256411"/>
                    <a:pt x="0" y="809371"/>
                  </a:cubicBezTo>
                  <a:close/>
                </a:path>
              </a:pathLst>
            </a:custGeom>
            <a:solidFill>
              <a:srgbClr val="F7C948"/>
            </a:solidFill>
            <a:ln w="25400" cap="sq">
              <a:solidFill>
                <a:srgbClr val="F7C948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211580" y="3131820"/>
            <a:ext cx="594360" cy="594360"/>
            <a:chOff x="0" y="0"/>
            <a:chExt cx="792480" cy="792480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792480" cy="792480"/>
            </a:xfrm>
            <a:custGeom>
              <a:avLst/>
              <a:gdLst/>
              <a:ahLst/>
              <a:cxnLst/>
              <a:rect r="r" b="b" t="t" l="l"/>
              <a:pathLst>
                <a:path h="792480" w="792480">
                  <a:moveTo>
                    <a:pt x="0" y="0"/>
                  </a:moveTo>
                  <a:lnTo>
                    <a:pt x="792480" y="0"/>
                  </a:lnTo>
                  <a:lnTo>
                    <a:pt x="792480" y="792480"/>
                  </a:lnTo>
                  <a:lnTo>
                    <a:pt x="0" y="7924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468880" y="2651760"/>
            <a:ext cx="7863840" cy="640080"/>
            <a:chOff x="0" y="0"/>
            <a:chExt cx="10485120" cy="8534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485120" cy="853440"/>
            </a:xfrm>
            <a:custGeom>
              <a:avLst/>
              <a:gdLst/>
              <a:ahLst/>
              <a:cxnLst/>
              <a:rect r="r" b="b" t="t" l="l"/>
              <a:pathLst>
                <a:path h="85344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9387" r="0" b="-189387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10485120" cy="872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1F2A1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E-wallet &amp; bank users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2468880" y="3291840"/>
            <a:ext cx="7863840" cy="1188720"/>
            <a:chOff x="0" y="0"/>
            <a:chExt cx="10485120" cy="158496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485120" cy="1584960"/>
            </a:xfrm>
            <a:custGeom>
              <a:avLst/>
              <a:gdLst/>
              <a:ahLst/>
              <a:cxnLst/>
              <a:rect r="r" b="b" t="t" l="l"/>
              <a:pathLst>
                <a:path h="158496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8901" r="0" b="-78901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0485120" cy="1623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5B6B5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Fake login pages are stopped before a PIN or password is typed, even on a domain registered today.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01703" y="4925063"/>
            <a:ext cx="1214123" cy="1214123"/>
            <a:chOff x="0" y="0"/>
            <a:chExt cx="1618831" cy="161883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618742" cy="1618742"/>
            </a:xfrm>
            <a:custGeom>
              <a:avLst/>
              <a:gdLst/>
              <a:ahLst/>
              <a:cxnLst/>
              <a:rect r="r" b="b" t="t" l="l"/>
              <a:pathLst>
                <a:path h="1618742" w="1618742">
                  <a:moveTo>
                    <a:pt x="0" y="809371"/>
                  </a:moveTo>
                  <a:cubicBezTo>
                    <a:pt x="0" y="362331"/>
                    <a:pt x="362331" y="0"/>
                    <a:pt x="809371" y="0"/>
                  </a:cubicBezTo>
                  <a:cubicBezTo>
                    <a:pt x="1256411" y="0"/>
                    <a:pt x="1618742" y="362331"/>
                    <a:pt x="1618742" y="809371"/>
                  </a:cubicBezTo>
                  <a:cubicBezTo>
                    <a:pt x="1618742" y="1256411"/>
                    <a:pt x="1256411" y="1618742"/>
                    <a:pt x="809371" y="1618742"/>
                  </a:cubicBezTo>
                  <a:cubicBezTo>
                    <a:pt x="362331" y="1618742"/>
                    <a:pt x="0" y="1256411"/>
                    <a:pt x="0" y="809371"/>
                  </a:cubicBezTo>
                  <a:close/>
                </a:path>
              </a:pathLst>
            </a:custGeom>
            <a:solidFill>
              <a:srgbClr val="F7C948"/>
            </a:solidFill>
            <a:ln w="25400" cap="sq">
              <a:solidFill>
                <a:srgbClr val="F7C948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1211580" y="5234940"/>
            <a:ext cx="594360" cy="594360"/>
            <a:chOff x="0" y="0"/>
            <a:chExt cx="792480" cy="792480"/>
          </a:xfrm>
        </p:grpSpPr>
        <p:sp>
          <p:nvSpPr>
            <p:cNvPr name="Freeform 21" id="21" descr="preencoded.png"/>
            <p:cNvSpPr/>
            <p:nvPr/>
          </p:nvSpPr>
          <p:spPr>
            <a:xfrm flipH="false" flipV="false" rot="0">
              <a:off x="0" y="0"/>
              <a:ext cx="792480" cy="792480"/>
            </a:xfrm>
            <a:custGeom>
              <a:avLst/>
              <a:gdLst/>
              <a:ahLst/>
              <a:cxnLst/>
              <a:rect r="r" b="b" t="t" l="l"/>
              <a:pathLst>
                <a:path h="792480" w="792480">
                  <a:moveTo>
                    <a:pt x="0" y="0"/>
                  </a:moveTo>
                  <a:lnTo>
                    <a:pt x="792480" y="0"/>
                  </a:lnTo>
                  <a:lnTo>
                    <a:pt x="792480" y="792480"/>
                  </a:lnTo>
                  <a:lnTo>
                    <a:pt x="0" y="7924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2468880" y="4754880"/>
            <a:ext cx="7863840" cy="640080"/>
            <a:chOff x="0" y="0"/>
            <a:chExt cx="10485120" cy="8534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485120" cy="853440"/>
            </a:xfrm>
            <a:custGeom>
              <a:avLst/>
              <a:gdLst/>
              <a:ahLst/>
              <a:cxnLst/>
              <a:rect r="r" b="b" t="t" l="l"/>
              <a:pathLst>
                <a:path h="85344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9387" r="0" b="-189387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9050"/>
              <a:ext cx="10485120" cy="872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1F2A1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Less tech-savvy family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2468880" y="5394960"/>
            <a:ext cx="7863840" cy="1188720"/>
            <a:chOff x="0" y="0"/>
            <a:chExt cx="10485120" cy="158496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485120" cy="1584960"/>
            </a:xfrm>
            <a:custGeom>
              <a:avLst/>
              <a:gdLst/>
              <a:ahLst/>
              <a:cxnLst/>
              <a:rect r="r" b="b" t="t" l="l"/>
              <a:pathLst>
                <a:path h="158496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8901" r="0" b="-78901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10485120" cy="1623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5B6B5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 need to spot a fake domain: a warning page in plain language does the judging, and explains why.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901703" y="7028183"/>
            <a:ext cx="1214123" cy="1214123"/>
            <a:chOff x="0" y="0"/>
            <a:chExt cx="1618831" cy="1618831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618742" cy="1618742"/>
            </a:xfrm>
            <a:custGeom>
              <a:avLst/>
              <a:gdLst/>
              <a:ahLst/>
              <a:cxnLst/>
              <a:rect r="r" b="b" t="t" l="l"/>
              <a:pathLst>
                <a:path h="1618742" w="1618742">
                  <a:moveTo>
                    <a:pt x="0" y="809371"/>
                  </a:moveTo>
                  <a:cubicBezTo>
                    <a:pt x="0" y="362331"/>
                    <a:pt x="362331" y="0"/>
                    <a:pt x="809371" y="0"/>
                  </a:cubicBezTo>
                  <a:cubicBezTo>
                    <a:pt x="1256411" y="0"/>
                    <a:pt x="1618742" y="362331"/>
                    <a:pt x="1618742" y="809371"/>
                  </a:cubicBezTo>
                  <a:cubicBezTo>
                    <a:pt x="1618742" y="1256411"/>
                    <a:pt x="1256411" y="1618742"/>
                    <a:pt x="809371" y="1618742"/>
                  </a:cubicBezTo>
                  <a:cubicBezTo>
                    <a:pt x="362331" y="1618742"/>
                    <a:pt x="0" y="1256411"/>
                    <a:pt x="0" y="809371"/>
                  </a:cubicBezTo>
                  <a:close/>
                </a:path>
              </a:pathLst>
            </a:custGeom>
            <a:solidFill>
              <a:srgbClr val="F7C948"/>
            </a:solidFill>
            <a:ln w="25400" cap="sq">
              <a:solidFill>
                <a:srgbClr val="F7C948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1211580" y="7338060"/>
            <a:ext cx="594360" cy="594360"/>
            <a:chOff x="0" y="0"/>
            <a:chExt cx="792480" cy="792480"/>
          </a:xfrm>
        </p:grpSpPr>
        <p:sp>
          <p:nvSpPr>
            <p:cNvPr name="Freeform 31" id="31" descr="preencoded.png"/>
            <p:cNvSpPr/>
            <p:nvPr/>
          </p:nvSpPr>
          <p:spPr>
            <a:xfrm flipH="false" flipV="false" rot="0">
              <a:off x="0" y="0"/>
              <a:ext cx="792480" cy="792480"/>
            </a:xfrm>
            <a:custGeom>
              <a:avLst/>
              <a:gdLst/>
              <a:ahLst/>
              <a:cxnLst/>
              <a:rect r="r" b="b" t="t" l="l"/>
              <a:pathLst>
                <a:path h="792480" w="792480">
                  <a:moveTo>
                    <a:pt x="0" y="0"/>
                  </a:moveTo>
                  <a:lnTo>
                    <a:pt x="792480" y="0"/>
                  </a:lnTo>
                  <a:lnTo>
                    <a:pt x="792480" y="792480"/>
                  </a:lnTo>
                  <a:lnTo>
                    <a:pt x="0" y="7924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2468880" y="6858000"/>
            <a:ext cx="7863840" cy="640080"/>
            <a:chOff x="0" y="0"/>
            <a:chExt cx="10485120" cy="8534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485120" cy="853440"/>
            </a:xfrm>
            <a:custGeom>
              <a:avLst/>
              <a:gdLst/>
              <a:ahLst/>
              <a:cxnLst/>
              <a:rect r="r" b="b" t="t" l="l"/>
              <a:pathLst>
                <a:path h="85344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9387" r="0" b="-189387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19050"/>
              <a:ext cx="10485120" cy="872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1F2A1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Schools, campuses, small businesses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2468880" y="7498080"/>
            <a:ext cx="7863840" cy="1188720"/>
            <a:chOff x="0" y="0"/>
            <a:chExt cx="10485120" cy="158496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485120" cy="1584960"/>
            </a:xfrm>
            <a:custGeom>
              <a:avLst/>
              <a:gdLst/>
              <a:ahLst/>
              <a:cxnLst/>
              <a:rect r="r" b="b" t="t" l="l"/>
              <a:pathLst>
                <a:path h="158496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8901" r="0" b="-78901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10485120" cy="1623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5B6B5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Managed browsers install the extension by policy, and the shared archive makes each extra seat cheaper.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0960103" y="2639063"/>
            <a:ext cx="6426203" cy="6060443"/>
            <a:chOff x="0" y="0"/>
            <a:chExt cx="8568271" cy="8080591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568182" cy="8080502"/>
            </a:xfrm>
            <a:custGeom>
              <a:avLst/>
              <a:gdLst/>
              <a:ahLst/>
              <a:cxnLst/>
              <a:rect r="r" b="b" t="t" l="l"/>
              <a:pathLst>
                <a:path h="8080502" w="8568182">
                  <a:moveTo>
                    <a:pt x="0" y="293751"/>
                  </a:moveTo>
                  <a:cubicBezTo>
                    <a:pt x="0" y="131572"/>
                    <a:pt x="131572" y="0"/>
                    <a:pt x="293751" y="0"/>
                  </a:cubicBezTo>
                  <a:lnTo>
                    <a:pt x="8274431" y="0"/>
                  </a:lnTo>
                  <a:cubicBezTo>
                    <a:pt x="8436737" y="0"/>
                    <a:pt x="8568182" y="131572"/>
                    <a:pt x="8568182" y="293751"/>
                  </a:cubicBezTo>
                  <a:lnTo>
                    <a:pt x="8568182" y="7786751"/>
                  </a:lnTo>
                  <a:cubicBezTo>
                    <a:pt x="8568182" y="7949057"/>
                    <a:pt x="8436611" y="8080502"/>
                    <a:pt x="8274431" y="8080502"/>
                  </a:cubicBezTo>
                  <a:lnTo>
                    <a:pt x="293751" y="8080502"/>
                  </a:lnTo>
                  <a:cubicBezTo>
                    <a:pt x="131572" y="8080629"/>
                    <a:pt x="0" y="7949057"/>
                    <a:pt x="0" y="7786751"/>
                  </a:cubicBezTo>
                  <a:close/>
                </a:path>
              </a:pathLst>
            </a:custGeom>
            <a:solidFill>
              <a:srgbClr val="1B2616"/>
            </a:solidFill>
            <a:ln w="25400" cap="sq">
              <a:solidFill>
                <a:srgbClr val="1B2616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11430000" y="3108960"/>
            <a:ext cx="5486400" cy="640080"/>
            <a:chOff x="0" y="0"/>
            <a:chExt cx="7315200" cy="85344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7315200" cy="853440"/>
            </a:xfrm>
            <a:custGeom>
              <a:avLst/>
              <a:gdLst/>
              <a:ahLst/>
              <a:cxnLst/>
              <a:rect r="r" b="b" t="t" l="l"/>
              <a:pathLst>
                <a:path h="85344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7014" r="0" b="-117014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66675"/>
              <a:ext cx="7315200" cy="9201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D5DDD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Every blocked click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1430000" y="3749040"/>
            <a:ext cx="5486400" cy="1463040"/>
            <a:chOff x="0" y="0"/>
            <a:chExt cx="7315200" cy="195072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73152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68" r="0" b="-23068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9525"/>
              <a:ext cx="7315200" cy="19602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799"/>
                </a:lnSpc>
              </a:pPr>
              <a:r>
                <a:rPr lang="en-US" sz="3999" b="true">
                  <a:solidFill>
                    <a:srgbClr val="F7C94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= one credential not stolen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1430000" y="5577840"/>
            <a:ext cx="5486400" cy="2560320"/>
            <a:chOff x="0" y="0"/>
            <a:chExt cx="7315200" cy="341376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7315200" cy="3413760"/>
            </a:xfrm>
            <a:custGeom>
              <a:avLst/>
              <a:gdLst/>
              <a:ahLst/>
              <a:cxnLst/>
              <a:rect r="r" b="b" t="t" l="l"/>
              <a:pathLst>
                <a:path h="341376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3413760"/>
                  </a:lnTo>
                  <a:lnTo>
                    <a:pt x="0" y="3413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875" t="0" r="-9875" b="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7315200" cy="34518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Phisang shifts the defence from "train every user to spot fakes" to "check the link for them, then explain why".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1887200" y="9601200"/>
            <a:ext cx="5486400" cy="457200"/>
            <a:chOff x="0" y="0"/>
            <a:chExt cx="7315200" cy="6096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7315200" cy="609600"/>
            </a:xfrm>
            <a:custGeom>
              <a:avLst/>
              <a:gdLst/>
              <a:ahLst/>
              <a:cxnLst/>
              <a:rect r="r" b="b" t="t" l="l"/>
              <a:pathLst>
                <a:path h="60960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73152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8A958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Phisang · HackNusa 2026   10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85216"/>
            <a:ext cx="16459200" cy="1097280"/>
            <a:chOff x="0" y="0"/>
            <a:chExt cx="2194560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194560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20"/>
                </a:lnSpc>
              </a:pPr>
              <a:r>
                <a:rPr lang="en-US" sz="5600" b="true">
                  <a:solidFill>
                    <a:srgbClr val="1F2A1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Conclusion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2011680"/>
            <a:ext cx="7863840" cy="640080"/>
            <a:chOff x="0" y="0"/>
            <a:chExt cx="10485120" cy="8534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485120" cy="853440"/>
            </a:xfrm>
            <a:custGeom>
              <a:avLst/>
              <a:gdLst/>
              <a:ahLst/>
              <a:cxnLst/>
              <a:rect r="r" b="b" t="t" l="l"/>
              <a:pathLst>
                <a:path h="85344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9387" r="0" b="-189387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10485120" cy="872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46723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What we built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914400" y="2533650"/>
            <a:ext cx="7863840" cy="41419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41" indent="-280670" lvl="1">
              <a:lnSpc>
                <a:spcPts val="4706"/>
              </a:lnSpc>
              <a:buFont typeface="Arial"/>
              <a:buChar char="•"/>
            </a:pPr>
            <a:r>
              <a:rPr lang="en-US" sz="2600">
                <a:solidFill>
                  <a:srgbClr val="1F2A1C"/>
                </a:solidFill>
                <a:latin typeface="Calibri (MS)"/>
                <a:ea typeface="Calibri (MS)"/>
                <a:cs typeface="Calibri (MS)"/>
                <a:sym typeface="Calibri (MS)"/>
              </a:rPr>
              <a:t>A deployed five-stage engine that reads the page, not just its reputation</a:t>
            </a:r>
          </a:p>
          <a:p>
            <a:pPr algn="l" marL="561341" indent="-280670" lvl="1">
              <a:lnSpc>
                <a:spcPts val="4706"/>
              </a:lnSpc>
              <a:buFont typeface="Arial"/>
              <a:buChar char="•"/>
            </a:pPr>
            <a:r>
              <a:rPr lang="en-US" sz="2600">
                <a:solidFill>
                  <a:srgbClr val="1F2A1C"/>
                </a:solidFill>
                <a:latin typeface="Calibri (MS)"/>
                <a:ea typeface="Calibri (MS)"/>
                <a:cs typeface="Calibri (MS)"/>
                <a:sym typeface="Calibri (MS)"/>
              </a:rPr>
              <a:t>Two-layer SSRF defence and a content guard at five points</a:t>
            </a:r>
          </a:p>
          <a:p>
            <a:pPr algn="l" marL="561341" indent="-280670" lvl="1">
              <a:lnSpc>
                <a:spcPts val="4706"/>
              </a:lnSpc>
              <a:buFont typeface="Arial"/>
              <a:buChar char="•"/>
            </a:pPr>
            <a:r>
              <a:rPr lang="en-US" sz="2600">
                <a:solidFill>
                  <a:srgbClr val="1F2A1C"/>
                </a:solidFill>
                <a:latin typeface="Calibri (MS)"/>
                <a:ea typeface="Calibri (MS)"/>
                <a:cs typeface="Calibri (MS)"/>
                <a:sym typeface="Calibri (MS)"/>
              </a:rPr>
              <a:t>A formal "unavailable" state: a failed check is never a clean one</a:t>
            </a:r>
          </a:p>
          <a:p>
            <a:pPr algn="l" marL="561341" indent="-280670" lvl="1">
              <a:lnSpc>
                <a:spcPts val="4706"/>
              </a:lnSpc>
              <a:buFont typeface="Arial"/>
              <a:buChar char="•"/>
            </a:pPr>
            <a:r>
              <a:rPr lang="en-US" sz="2600">
                <a:solidFill>
                  <a:srgbClr val="1F2A1C"/>
                </a:solidFill>
                <a:latin typeface="Calibri (MS)"/>
                <a:ea typeface="Calibri (MS)"/>
                <a:cs typeface="Calibri (MS)"/>
                <a:sym typeface="Calibri (MS)"/>
              </a:rPr>
              <a:t>227 automated tests that encode every decision rule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14400" y="7315200"/>
            <a:ext cx="14605793" cy="1097280"/>
            <a:chOff x="0" y="0"/>
            <a:chExt cx="19474390" cy="14630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47439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9474390">
                  <a:moveTo>
                    <a:pt x="0" y="0"/>
                  </a:moveTo>
                  <a:lnTo>
                    <a:pt x="19474390" y="0"/>
                  </a:lnTo>
                  <a:lnTo>
                    <a:pt x="1947439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642" r="46159" b="-89642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9474390" cy="15106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1F2A1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Our </a:t>
              </a:r>
              <a:r>
                <a:rPr lang="en-US" sz="2300" b="true">
                  <a:solidFill>
                    <a:srgbClr val="1F2A1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Next Plan: set a proper model threshold → API rate limits &amp; auth → replicas → Chrome Web Store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497063" y="1998983"/>
            <a:ext cx="7889243" cy="4633619"/>
            <a:chOff x="0" y="0"/>
            <a:chExt cx="10518991" cy="617815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519029" cy="6178196"/>
            </a:xfrm>
            <a:custGeom>
              <a:avLst/>
              <a:gdLst/>
              <a:ahLst/>
              <a:cxnLst/>
              <a:rect r="r" b="b" t="t" l="l"/>
              <a:pathLst>
                <a:path h="6178196" w="10519029">
                  <a:moveTo>
                    <a:pt x="0" y="205948"/>
                  </a:moveTo>
                  <a:cubicBezTo>
                    <a:pt x="0" y="92156"/>
                    <a:pt x="131445" y="0"/>
                    <a:pt x="293751" y="0"/>
                  </a:cubicBezTo>
                  <a:lnTo>
                    <a:pt x="10225278" y="0"/>
                  </a:lnTo>
                  <a:cubicBezTo>
                    <a:pt x="10387457" y="0"/>
                    <a:pt x="10519029" y="92156"/>
                    <a:pt x="10519029" y="205948"/>
                  </a:cubicBezTo>
                  <a:lnTo>
                    <a:pt x="10519029" y="5972236"/>
                  </a:lnTo>
                  <a:cubicBezTo>
                    <a:pt x="10519029" y="6085940"/>
                    <a:pt x="10387585" y="6178196"/>
                    <a:pt x="10225278" y="6178196"/>
                  </a:cubicBezTo>
                  <a:lnTo>
                    <a:pt x="293751" y="6178196"/>
                  </a:lnTo>
                  <a:cubicBezTo>
                    <a:pt x="131445" y="6178196"/>
                    <a:pt x="0" y="6085940"/>
                    <a:pt x="0" y="5972236"/>
                  </a:cubicBezTo>
                  <a:close/>
                </a:path>
              </a:pathLst>
            </a:custGeom>
            <a:solidFill>
              <a:srgbClr val="F3F5EF"/>
            </a:solidFill>
            <a:ln w="25400" cap="sq">
              <a:solidFill>
                <a:srgbClr val="F3F5EF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9966960" y="2377440"/>
            <a:ext cx="6949440" cy="640080"/>
            <a:chOff x="0" y="0"/>
            <a:chExt cx="9265920" cy="8534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265920" cy="853440"/>
            </a:xfrm>
            <a:custGeom>
              <a:avLst/>
              <a:gdLst/>
              <a:ahLst/>
              <a:cxnLst/>
              <a:rect r="r" b="b" t="t" l="l"/>
              <a:pathLst>
                <a:path h="853440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551" r="0" b="-161551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9265920" cy="872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D9731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Honest limits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966960" y="3291840"/>
            <a:ext cx="2651760" cy="1280160"/>
            <a:chOff x="0" y="0"/>
            <a:chExt cx="3535680" cy="170688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535680" cy="1706880"/>
            </a:xfrm>
            <a:custGeom>
              <a:avLst/>
              <a:gdLst/>
              <a:ahLst/>
              <a:cxnLst/>
              <a:rect r="r" b="b" t="t" l="l"/>
              <a:pathLst>
                <a:path h="1706880" w="3535680">
                  <a:moveTo>
                    <a:pt x="0" y="0"/>
                  </a:moveTo>
                  <a:lnTo>
                    <a:pt x="3535680" y="0"/>
                  </a:lnTo>
                  <a:lnTo>
                    <a:pt x="353568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939" t="0" r="-11939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3535680" cy="17259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9" b="true">
                  <a:solidFill>
                    <a:srgbClr val="1F2A1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0.798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2710160" y="3291840"/>
            <a:ext cx="4389120" cy="1280160"/>
            <a:chOff x="0" y="0"/>
            <a:chExt cx="5852160" cy="17068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852160" cy="1706880"/>
            </a:xfrm>
            <a:custGeom>
              <a:avLst/>
              <a:gdLst/>
              <a:ahLst/>
              <a:cxnLst/>
              <a:rect r="r" b="b" t="t" l="l"/>
              <a:pathLst>
                <a:path h="170688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805" r="0" b="-16805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5852160" cy="17545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5B6B5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AUC on 300 unseen pages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966960" y="4848225"/>
            <a:ext cx="7040880" cy="1645920"/>
            <a:chOff x="0" y="0"/>
            <a:chExt cx="9387840" cy="219456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387840" cy="2194560"/>
            </a:xfrm>
            <a:custGeom>
              <a:avLst/>
              <a:gdLst/>
              <a:ahLst/>
              <a:cxnLst/>
              <a:rect r="r" b="b" t="t" l="l"/>
              <a:pathLst>
                <a:path h="2194560" w="9387840">
                  <a:moveTo>
                    <a:pt x="0" y="0"/>
                  </a:moveTo>
                  <a:lnTo>
                    <a:pt x="9387840" y="0"/>
                  </a:lnTo>
                  <a:lnTo>
                    <a:pt x="938784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352" r="0" b="-33352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9387840" cy="22421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i="true">
                  <a:solidFill>
                    <a:srgbClr val="1F2A1C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Model quality is the blocker, which is why the model can't block alone. Finishing training and calibrating it comes first.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1887200" y="9601200"/>
            <a:ext cx="5486400" cy="457200"/>
            <a:chOff x="0" y="0"/>
            <a:chExt cx="7315200" cy="6096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315200" cy="609600"/>
            </a:xfrm>
            <a:custGeom>
              <a:avLst/>
              <a:gdLst/>
              <a:ahLst/>
              <a:cxnLst/>
              <a:rect r="r" b="b" t="t" l="l"/>
              <a:pathLst>
                <a:path h="60960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73152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8A958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Phisang · HackNusa 2026   11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B26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936743" y="993143"/>
            <a:ext cx="4414523" cy="4414523"/>
            <a:chOff x="0" y="0"/>
            <a:chExt cx="5886031" cy="588603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886069" cy="5886069"/>
            </a:xfrm>
            <a:custGeom>
              <a:avLst/>
              <a:gdLst/>
              <a:ahLst/>
              <a:cxnLst/>
              <a:rect r="r" b="b" t="t" l="l"/>
              <a:pathLst>
                <a:path h="5886069" w="5886069">
                  <a:moveTo>
                    <a:pt x="0" y="2942971"/>
                  </a:moveTo>
                  <a:cubicBezTo>
                    <a:pt x="0" y="1317625"/>
                    <a:pt x="1317625" y="0"/>
                    <a:pt x="2942971" y="0"/>
                  </a:cubicBezTo>
                  <a:cubicBezTo>
                    <a:pt x="4568317" y="0"/>
                    <a:pt x="5886069" y="1317625"/>
                    <a:pt x="5886069" y="2942971"/>
                  </a:cubicBezTo>
                  <a:cubicBezTo>
                    <a:pt x="5886069" y="4568317"/>
                    <a:pt x="4568444" y="5886069"/>
                    <a:pt x="2942971" y="5886069"/>
                  </a:cubicBezTo>
                  <a:cubicBezTo>
                    <a:pt x="1317498" y="5886069"/>
                    <a:pt x="0" y="4568444"/>
                    <a:pt x="0" y="2942971"/>
                  </a:cubicBezTo>
                  <a:close/>
                </a:path>
              </a:pathLst>
            </a:custGeom>
            <a:solidFill>
              <a:srgbClr val="F7C948">
                <a:alpha val="3922"/>
              </a:srgbClr>
            </a:solidFill>
            <a:ln w="25400" cap="sq">
              <a:solidFill>
                <a:srgbClr val="F7C948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8046720" y="2103120"/>
            <a:ext cx="2194560" cy="2194560"/>
            <a:chOff x="0" y="0"/>
            <a:chExt cx="2926080" cy="29260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926080" cy="2926080"/>
            </a:xfrm>
            <a:custGeom>
              <a:avLst/>
              <a:gdLst/>
              <a:ahLst/>
              <a:cxnLst/>
              <a:rect r="r" b="b" t="t" l="l"/>
              <a:pathLst>
                <a:path h="2926080" w="2926080">
                  <a:moveTo>
                    <a:pt x="1270000" y="0"/>
                  </a:moveTo>
                  <a:lnTo>
                    <a:pt x="1656080" y="0"/>
                  </a:lnTo>
                  <a:cubicBezTo>
                    <a:pt x="1992905" y="0"/>
                    <a:pt x="2315934" y="133803"/>
                    <a:pt x="2554106" y="371974"/>
                  </a:cubicBezTo>
                  <a:cubicBezTo>
                    <a:pt x="2792277" y="610146"/>
                    <a:pt x="2926080" y="933175"/>
                    <a:pt x="2926080" y="1270000"/>
                  </a:cubicBezTo>
                  <a:lnTo>
                    <a:pt x="2926080" y="1656080"/>
                  </a:lnTo>
                  <a:cubicBezTo>
                    <a:pt x="2926080" y="2357481"/>
                    <a:pt x="2357481" y="2926080"/>
                    <a:pt x="1656080" y="2926080"/>
                  </a:cubicBezTo>
                  <a:lnTo>
                    <a:pt x="1270000" y="2926080"/>
                  </a:lnTo>
                  <a:cubicBezTo>
                    <a:pt x="568598" y="2926080"/>
                    <a:pt x="0" y="2357481"/>
                    <a:pt x="0" y="1656080"/>
                  </a:cubicBezTo>
                  <a:lnTo>
                    <a:pt x="0" y="1270000"/>
                  </a:lnTo>
                  <a:cubicBezTo>
                    <a:pt x="0" y="568598"/>
                    <a:pt x="568598" y="0"/>
                    <a:pt x="1270000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3763" r="0" b="-3763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14400" y="5760720"/>
            <a:ext cx="16459200" cy="1280160"/>
            <a:chOff x="0" y="0"/>
            <a:chExt cx="21945600" cy="17068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21945600" cy="17354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8640"/>
                </a:lnSpc>
              </a:pPr>
              <a:r>
                <a:rPr lang="en-US" sz="72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Thank you. Questions?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14400" y="7132320"/>
            <a:ext cx="16459200" cy="731520"/>
            <a:chOff x="0" y="0"/>
            <a:chExt cx="21945600" cy="97536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0" cy="975360"/>
            </a:xfrm>
            <a:custGeom>
              <a:avLst/>
              <a:gdLst/>
              <a:ahLst/>
              <a:cxnLst/>
              <a:rect r="r" b="b" t="t" l="l"/>
              <a:pathLst>
                <a:path h="9753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88413" r="0" b="-388413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21945600" cy="1032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i="true">
                  <a:solidFill>
                    <a:srgbClr val="F7C94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Phisang · Reads the peel before you bite.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14400" y="8321040"/>
            <a:ext cx="16459200" cy="640080"/>
            <a:chOff x="0" y="0"/>
            <a:chExt cx="21945600" cy="8534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45600" cy="853440"/>
            </a:xfrm>
            <a:custGeom>
              <a:avLst/>
              <a:gdLst/>
              <a:ahLst/>
              <a:cxnLst/>
              <a:rect r="r" b="b" t="t" l="l"/>
              <a:pathLst>
                <a:path h="8534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51043" r="0" b="-451043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21945600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>
                  <a:solidFill>
                    <a:srgbClr val="A9B5A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Team 23 - Phisang  ·  phisang.kennethsunjaya.com  ·  </a:t>
              </a:r>
              <a:r>
                <a:rPr lang="en-US" sz="2600" u="sng">
                  <a:solidFill>
                    <a:srgbClr val="A9B5A4"/>
                  </a:solidFill>
                  <a:latin typeface="Calibri (MS)"/>
                  <a:ea typeface="Calibri (MS)"/>
                  <a:cs typeface="Calibri (MS)"/>
                  <a:sym typeface="Calibri (MS)"/>
                  <a:hlinkClick r:id="rId5" tooltip="https://github.com/juanariviano/Phisang"/>
                </a:rPr>
                <a:t>https://github.com/juanariviano/Phisang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DAHW6G0b6Tc</dc:identifier>
  <dcterms:modified xsi:type="dcterms:W3CDTF">2011-08-01T06:04:30Z</dcterms:modified>
  <cp:revision>1</cp:revision>
  <dc:title>Phisang_HackNusa2026.pptx</dc:title>
</cp:coreProperties>
</file>